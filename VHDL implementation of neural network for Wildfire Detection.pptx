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2"/>
  </p:notesMasterIdLst>
  <p:sldIdLst>
    <p:sldId id="274" r:id="rId2"/>
    <p:sldId id="280" r:id="rId3"/>
    <p:sldId id="273" r:id="rId4"/>
    <p:sldId id="275" r:id="rId5"/>
    <p:sldId id="276" r:id="rId6"/>
    <p:sldId id="277" r:id="rId7"/>
    <p:sldId id="278" r:id="rId8"/>
    <p:sldId id="279" r:id="rId9"/>
    <p:sldId id="257" r:id="rId10"/>
    <p:sldId id="256" r:id="rId11"/>
    <p:sldId id="260" r:id="rId12"/>
    <p:sldId id="263" r:id="rId13"/>
    <p:sldId id="259" r:id="rId14"/>
    <p:sldId id="289" r:id="rId15"/>
    <p:sldId id="258" r:id="rId16"/>
    <p:sldId id="267" r:id="rId17"/>
    <p:sldId id="282" r:id="rId18"/>
    <p:sldId id="264" r:id="rId19"/>
    <p:sldId id="265" r:id="rId20"/>
    <p:sldId id="281" r:id="rId21"/>
    <p:sldId id="268" r:id="rId22"/>
    <p:sldId id="283" r:id="rId23"/>
    <p:sldId id="284" r:id="rId24"/>
    <p:sldId id="285" r:id="rId25"/>
    <p:sldId id="286" r:id="rId26"/>
    <p:sldId id="287" r:id="rId27"/>
    <p:sldId id="288" r:id="rId28"/>
    <p:sldId id="270" r:id="rId29"/>
    <p:sldId id="271" r:id="rId30"/>
    <p:sldId id="272" r:id="rId3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927" autoAdjust="0"/>
    <p:restoredTop sz="94660"/>
  </p:normalViewPr>
  <p:slideViewPr>
    <p:cSldViewPr snapToGrid="0" snapToObjects="1">
      <p:cViewPr varScale="1">
        <p:scale>
          <a:sx n="82" d="100"/>
          <a:sy n="82" d="100"/>
        </p:scale>
        <p:origin x="1661"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962055-B13C-4613-83A1-B4299BCABB00}" type="datetimeFigureOut">
              <a:rPr lang="en-US" smtClean="0"/>
              <a:t>1/29/2026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0FA6DA-BA71-4DB6-AC18-B52481E91B75}" type="slidenum">
              <a:rPr lang="en-US" smtClean="0"/>
              <a:t>‹#›</a:t>
            </a:fld>
            <a:endParaRPr lang="en-US"/>
          </a:p>
        </p:txBody>
      </p:sp>
    </p:spTree>
    <p:extLst>
      <p:ext uri="{BB962C8B-B14F-4D97-AF65-F5344CB8AC3E}">
        <p14:creationId xmlns:p14="http://schemas.microsoft.com/office/powerpoint/2010/main" val="4844656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Clarify that each pixel is classified in real time using FPGA hardware.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2334030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102240" y="2386744"/>
            <a:ext cx="6939520" cy="1645920"/>
          </a:xfrm>
          <a:solidFill>
            <a:srgbClr val="FFFFFF"/>
          </a:solidFill>
          <a:ln w="38100">
            <a:solidFill>
              <a:srgbClr val="404040"/>
            </a:solidFill>
          </a:ln>
        </p:spPr>
        <p:txBody>
          <a:bodyPr lIns="274320" rIns="274320" anchor="ctr" anchorCtr="1">
            <a:normAutofit/>
          </a:bodyPr>
          <a:lstStyle>
            <a:lvl1pPr algn="ctr">
              <a:defRPr sz="35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021396" y="4352544"/>
            <a:ext cx="5101209" cy="1239894"/>
          </a:xfrm>
          <a:noFill/>
        </p:spPr>
        <p:txBody>
          <a:bodyPr>
            <a:normAutofit/>
          </a:bodyPr>
          <a:lstStyle>
            <a:lvl1pPr marL="0" indent="0" algn="ctr">
              <a:buNone/>
              <a:defRPr sz="1900">
                <a:solidFill>
                  <a:schemeClr val="tx1">
                    <a:lumMod val="75000"/>
                    <a:lumOff val="25000"/>
                  </a:schemeClr>
                </a:solidFill>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1197273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85167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106424" y="2386744"/>
            <a:ext cx="6940296" cy="1645920"/>
          </a:xfrm>
          <a:solidFill>
            <a:srgbClr val="FFFFFF"/>
          </a:solidFill>
          <a:ln w="38100">
            <a:solidFill>
              <a:srgbClr val="404040"/>
            </a:solidFill>
          </a:ln>
        </p:spPr>
        <p:txBody>
          <a:bodyPr lIns="274320" rIns="274320" anchor="ctr" anchorCtr="1">
            <a:normAutofit/>
          </a:bodyPr>
          <a:lstStyle>
            <a:lvl1pPr>
              <a:defRPr sz="35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021396" y="4352465"/>
            <a:ext cx="5101209" cy="1265082"/>
          </a:xfrm>
        </p:spPr>
        <p:txBody>
          <a:bodyPr anchor="t" anchorCtr="1">
            <a:normAutofit/>
          </a:bodyPr>
          <a:lstStyle>
            <a:lvl1pPr marL="0" indent="0">
              <a:buNone/>
              <a:defRPr sz="1900">
                <a:solidFill>
                  <a:schemeClr val="tx1"/>
                </a:solidFill>
              </a:defRPr>
            </a:lvl1pPr>
            <a:lvl2pPr marL="457200" indent="0">
              <a:buNone/>
              <a:defRPr sz="19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7" name="Date Placeholder 6"/>
          <p:cNvSpPr>
            <a:spLocks noGrp="1"/>
          </p:cNvSpPr>
          <p:nvPr>
            <p:ph type="dt" sz="half" idx="10"/>
          </p:nvPr>
        </p:nvSpPr>
        <p:spPr/>
        <p:txBody>
          <a:bodyPr/>
          <a:lstStyle/>
          <a:p>
            <a:fld id="{5BCAD085-E8A6-8845-BD4E-CB4CCA059FC4}" type="datetimeFigureOut">
              <a:rPr lang="en-US" smtClean="0"/>
              <a:t>1/29/2026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38144294"/>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2239" y="2638044"/>
            <a:ext cx="3288023" cy="31019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53737" y="2638044"/>
            <a:ext cx="3290516" cy="31019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5BCAD085-E8A6-8845-BD4E-CB4CCA059FC4}" type="datetimeFigureOut">
              <a:rPr lang="en-US" smtClean="0"/>
              <a:t>1/29/2026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395362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02239" y="2313434"/>
            <a:ext cx="3288024"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2239" y="3143250"/>
            <a:ext cx="3288024" cy="259677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4753737" y="3143250"/>
            <a:ext cx="3290516" cy="2596776"/>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4753737" y="2313434"/>
            <a:ext cx="3290516"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7" name="Date Placeholder 6"/>
          <p:cNvSpPr>
            <a:spLocks noGrp="1"/>
          </p:cNvSpPr>
          <p:nvPr>
            <p:ph type="dt" sz="half" idx="10"/>
          </p:nvPr>
        </p:nvSpPr>
        <p:spPr/>
        <p:txBody>
          <a:bodyPr/>
          <a:lstStyle/>
          <a:p>
            <a:fld id="{5BCAD085-E8A6-8845-BD4E-CB4CCA059FC4}" type="datetimeFigureOut">
              <a:rPr lang="en-US" smtClean="0"/>
              <a:t>1/29/2026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918947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440522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436662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457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640703" y="2243829"/>
            <a:ext cx="3290594" cy="1141497"/>
          </a:xfrm>
          <a:solidFill>
            <a:srgbClr val="FFFFFF"/>
          </a:solidFill>
          <a:ln>
            <a:solidFill>
              <a:srgbClr val="404040"/>
            </a:solidFill>
          </a:ln>
        </p:spPr>
        <p:txBody>
          <a:bodyPr anchor="ctr" anchorCtr="1">
            <a:normAutofit/>
          </a:bodyPr>
          <a:lstStyle>
            <a:lvl1pPr>
              <a:defRPr sz="21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5052060" y="804672"/>
            <a:ext cx="361188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2965" y="3549918"/>
            <a:ext cx="284607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9" name="Date Placeholder 8"/>
          <p:cNvSpPr>
            <a:spLocks noGrp="1"/>
          </p:cNvSpPr>
          <p:nvPr>
            <p:ph type="dt" sz="half" idx="10"/>
          </p:nvPr>
        </p:nvSpPr>
        <p:spPr/>
        <p:txBody>
          <a:bodyPr/>
          <a:lstStyle/>
          <a:p>
            <a:fld id="{5BCAD085-E8A6-8845-BD4E-CB4CCA059FC4}" type="datetimeFigureOut">
              <a:rPr lang="en-US" smtClean="0"/>
              <a:t>1/29/2026</a:t>
            </a:fld>
            <a:endParaRPr lang="en-US"/>
          </a:p>
        </p:txBody>
      </p:sp>
      <p:sp>
        <p:nvSpPr>
          <p:cNvPr id="10" name="Footer Placeholder 9"/>
          <p:cNvSpPr>
            <a:spLocks noGrp="1"/>
          </p:cNvSpPr>
          <p:nvPr>
            <p:ph type="ftr" sz="quarter" idx="11"/>
          </p:nvPr>
        </p:nvSpPr>
        <p:spPr>
          <a:xfrm>
            <a:off x="640703" y="6236208"/>
            <a:ext cx="3806398" cy="320040"/>
          </a:xfrm>
        </p:spPr>
        <p:txBody>
          <a:bodyPr>
            <a:normAutofit/>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908705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1" y="0"/>
            <a:ext cx="4571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640080" y="2243828"/>
            <a:ext cx="3291840" cy="1143000"/>
          </a:xfrm>
          <a:solidFill>
            <a:srgbClr val="FFFFFF"/>
          </a:solidFill>
          <a:ln>
            <a:solidFill>
              <a:srgbClr val="262626"/>
            </a:solidFill>
          </a:ln>
        </p:spPr>
        <p:txBody>
          <a:bodyPr anchor="ctr" anchorCtr="1">
            <a:noAutofit/>
          </a:bodyPr>
          <a:lstStyle>
            <a:lvl1pPr>
              <a:defRPr sz="21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572000" y="-42172"/>
            <a:ext cx="4576573"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2965" y="3549919"/>
            <a:ext cx="284607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5BCAD085-E8A6-8845-BD4E-CB4CCA059FC4}" type="datetimeFigureOut">
              <a:rPr lang="en-US" smtClean="0"/>
              <a:t>1/29/2026</a:t>
            </a:fld>
            <a:endParaRPr lang="en-US"/>
          </a:p>
        </p:txBody>
      </p:sp>
      <p:sp>
        <p:nvSpPr>
          <p:cNvPr id="9" name="Footer Placeholder 8"/>
          <p:cNvSpPr>
            <a:spLocks noGrp="1"/>
          </p:cNvSpPr>
          <p:nvPr>
            <p:ph type="ftr" sz="quarter" idx="11"/>
          </p:nvPr>
        </p:nvSpPr>
        <p:spPr>
          <a:xfrm>
            <a:off x="640080" y="6236208"/>
            <a:ext cx="3803904" cy="320040"/>
          </a:xfrm>
        </p:spPr>
        <p:txBody>
          <a:bodyPr>
            <a:normAutofit/>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59215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34263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89834" y="937260"/>
            <a:ext cx="1053966"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606046" y="937260"/>
            <a:ext cx="4716174" cy="498348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52637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1606045" y="964692"/>
            <a:ext cx="5937755"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606045" y="2638045"/>
            <a:ext cx="5937755"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978943" y="6238816"/>
            <a:ext cx="2065310" cy="323968"/>
          </a:xfrm>
          <a:prstGeom prst="rect">
            <a:avLst/>
          </a:prstGeom>
        </p:spPr>
        <p:txBody>
          <a:bodyPr vert="horz" lIns="91440" tIns="45720" rIns="91440" bIns="45720" rtlCol="0" anchor="ctr"/>
          <a:lstStyle>
            <a:lvl1pPr algn="r">
              <a:defRPr sz="1000">
                <a:solidFill>
                  <a:schemeClr val="tx1">
                    <a:alpha val="70000"/>
                  </a:schemeClr>
                </a:solidFill>
              </a:defRPr>
            </a:lvl1pPr>
          </a:lstStyle>
          <a:p>
            <a:fld id="{5BCAD085-E8A6-8845-BD4E-CB4CCA059FC4}" type="datetimeFigureOut">
              <a:rPr lang="en-US" smtClean="0"/>
              <a:t>1/29/2026</a:t>
            </a:fld>
            <a:endParaRPr lang="en-US"/>
          </a:p>
        </p:txBody>
      </p:sp>
      <p:sp>
        <p:nvSpPr>
          <p:cNvPr id="5" name="Footer Placeholder 4"/>
          <p:cNvSpPr>
            <a:spLocks noGrp="1"/>
          </p:cNvSpPr>
          <p:nvPr>
            <p:ph type="ftr" sz="quarter" idx="3"/>
          </p:nvPr>
        </p:nvSpPr>
        <p:spPr>
          <a:xfrm>
            <a:off x="1102239" y="6236208"/>
            <a:ext cx="4556664" cy="320040"/>
          </a:xfrm>
          <a:prstGeom prst="rect">
            <a:avLst/>
          </a:prstGeom>
        </p:spPr>
        <p:txBody>
          <a:bodyPr vert="horz" lIns="91440" tIns="45720" rIns="91440" bIns="45720" rtlCol="0" anchor="ctr"/>
          <a:lstStyle>
            <a:lvl1pPr algn="l">
              <a:defRPr sz="100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8240112" y="6217920"/>
            <a:ext cx="365760" cy="365760"/>
          </a:xfrm>
          <a:prstGeom prst="ellipse">
            <a:avLst/>
          </a:prstGeom>
          <a:solidFill>
            <a:srgbClr val="1D1D1D">
              <a:alpha val="69804"/>
            </a:srgbClr>
          </a:solidFill>
        </p:spPr>
        <p:txBody>
          <a:bodyPr vert="horz" lIns="18288" tIns="45720" rIns="18288" bIns="45720" rtlCol="0" anchor="ctr">
            <a:noAutofit/>
          </a:bodyPr>
          <a:lstStyle>
            <a:lvl1pPr algn="ctr">
              <a:defRPr sz="1100" spc="0" baseline="0">
                <a:solidFill>
                  <a:srgbClr val="FFFFFF"/>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371841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ct val="90000"/>
        </a:lnSpc>
        <a:spcBef>
          <a:spcPct val="0"/>
        </a:spcBef>
        <a:buNone/>
        <a:defRPr sz="26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vscode-file://vscode-app/d:/Microsoft%20VS%20Code/resources/app/out/vs/code/electron-browser/workbench/workbench.html"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vscode-file://vscode-app/d:/Microsoft%20VS%20Code/resources/app/out/vs/code/electron-browser/workbench/workbench.html"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vscode-file://vscode-app/d:/Microsoft%20VS%20Code/resources/app/out/vs/code/electron-browser/workbench/workbench.html"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vscode-file://vscode-app/d:/Microsoft%20VS%20Code/resources/app/out/vs/code/electron-browser/workbench/workbench.html"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vscode-file://vscode-app/d:/Microsoft%20VS%20Code/resources/app/out/vs/code/electron-browser/workbench/workbench.html"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99535" y="660400"/>
            <a:ext cx="8026879" cy="1858513"/>
          </a:xfrm>
        </p:spPr>
        <p:txBody>
          <a:bodyPr>
            <a:normAutofit/>
          </a:bodyPr>
          <a:lstStyle/>
          <a:p>
            <a:r>
              <a:rPr lang="en-US" dirty="0"/>
              <a:t>VHDL implementation of neural network </a:t>
            </a:r>
            <a:r>
              <a:rPr dirty="0"/>
              <a:t>for Wildfire Detection</a:t>
            </a:r>
          </a:p>
        </p:txBody>
      </p:sp>
      <p:sp>
        <p:nvSpPr>
          <p:cNvPr id="3" name="Subtitle 2"/>
          <p:cNvSpPr>
            <a:spLocks noGrp="1"/>
          </p:cNvSpPr>
          <p:nvPr>
            <p:ph type="subTitle" idx="1"/>
          </p:nvPr>
        </p:nvSpPr>
        <p:spPr>
          <a:xfrm>
            <a:off x="897147" y="2937293"/>
            <a:ext cx="7177177" cy="2669875"/>
          </a:xfrm>
        </p:spPr>
        <p:txBody>
          <a:bodyPr>
            <a:normAutofit fontScale="92500" lnSpcReduction="10000"/>
          </a:bodyPr>
          <a:lstStyle/>
          <a:p>
            <a:r>
              <a:rPr dirty="0"/>
              <a:t>Bachelor Thesis</a:t>
            </a:r>
            <a:endParaRPr lang="en-US" dirty="0"/>
          </a:p>
          <a:p>
            <a:endParaRPr lang="en-US" dirty="0"/>
          </a:p>
          <a:p>
            <a:endParaRPr lang="en-US" dirty="0"/>
          </a:p>
          <a:p>
            <a:endParaRPr dirty="0"/>
          </a:p>
          <a:p>
            <a:r>
              <a:rPr dirty="0" err="1"/>
              <a:t>Constantinos</a:t>
            </a:r>
            <a:r>
              <a:rPr dirty="0"/>
              <a:t> </a:t>
            </a:r>
            <a:r>
              <a:rPr dirty="0" err="1"/>
              <a:t>Dionysiou</a:t>
            </a:r>
            <a:endParaRPr dirty="0"/>
          </a:p>
          <a:p>
            <a:r>
              <a:rPr dirty="0"/>
              <a:t>Cyprus University of Technology</a:t>
            </a:r>
          </a:p>
          <a:p>
            <a:r>
              <a:rPr dirty="0"/>
              <a:t>Department of Electrical Engineering</a:t>
            </a:r>
          </a:p>
        </p:txBody>
      </p:sp>
    </p:spTree>
    <p:extLst>
      <p:ext uri="{BB962C8B-B14F-4D97-AF65-F5344CB8AC3E}">
        <p14:creationId xmlns:p14="http://schemas.microsoft.com/office/powerpoint/2010/main" val="32656799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FPGA implementation, neural networks, nonlinear systems</a:t>
            </a:r>
          </a:p>
        </p:txBody>
      </p:sp>
      <p:sp>
        <p:nvSpPr>
          <p:cNvPr id="3" name="Content Placeholder 2"/>
          <p:cNvSpPr>
            <a:spLocks noGrp="1"/>
          </p:cNvSpPr>
          <p:nvPr>
            <p:ph idx="1"/>
          </p:nvPr>
        </p:nvSpPr>
        <p:spPr/>
        <p:txBody>
          <a:bodyPr>
            <a:normAutofit fontScale="92500" lnSpcReduction="10000"/>
          </a:bodyPr>
          <a:lstStyle/>
          <a:p>
            <a:r>
              <a:rPr lang="en-US" dirty="0"/>
              <a:t>ANNs are selected because of their adaptability, which enables them to analyze different kinds of data quickly because of network parallelism. </a:t>
            </a:r>
          </a:p>
          <a:p>
            <a:endParaRPr lang="en-US" dirty="0"/>
          </a:p>
          <a:p>
            <a:r>
              <a:rPr lang="en-US" dirty="0"/>
              <a:t>Given these unique characteristics of ANNs, the customizable nature of FPGAs makes them an intriguing option for a hardware implementation. Therefore, even if FPGAs have poorer performance than VLSI (Very Large Scale Integration) circuits, it is still possible to change an ANN's features or structure without rebuilding the circuit. Additionally, FPGAs have rapid design cycles and are inherently parallel.</a:t>
            </a:r>
          </a:p>
        </p:txBody>
      </p:sp>
    </p:spTree>
    <p:extLst>
      <p:ext uri="{BB962C8B-B14F-4D97-AF65-F5344CB8AC3E}">
        <p14:creationId xmlns:p14="http://schemas.microsoft.com/office/powerpoint/2010/main" val="26934320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Problem Definition</a:t>
            </a:r>
          </a:p>
        </p:txBody>
      </p:sp>
      <p:sp>
        <p:nvSpPr>
          <p:cNvPr id="3" name="Content Placeholder 2"/>
          <p:cNvSpPr>
            <a:spLocks noGrp="1"/>
          </p:cNvSpPr>
          <p:nvPr>
            <p:ph idx="1"/>
          </p:nvPr>
        </p:nvSpPr>
        <p:spPr>
          <a:xfrm>
            <a:off x="1097297" y="2658396"/>
            <a:ext cx="6955249" cy="3101983"/>
          </a:xfrm>
        </p:spPr>
        <p:txBody>
          <a:bodyPr/>
          <a:lstStyle/>
          <a:p>
            <a:r>
              <a:rPr lang="en-US" dirty="0"/>
              <a:t>This thesis addresses the problem of real-time wildfire indication using RGB video streams, with per-pixel classification performed at full video frame rate. The system is designed to operate entirely at the edge, without relying on cloud infrastructure or GPU acceleration. The overall goal is to achieve high throughput with low power consumption, enabling reliable and responsive wildfire detection in practical deployments.</a:t>
            </a:r>
            <a:endParaRPr dirty="0"/>
          </a:p>
        </p:txBody>
      </p:sp>
    </p:spTree>
    <p:extLst>
      <p:ext uri="{BB962C8B-B14F-4D97-AF65-F5344CB8AC3E}">
        <p14:creationId xmlns:p14="http://schemas.microsoft.com/office/powerpoint/2010/main" val="28709985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stretch>
            <a:fillRect/>
          </a:stretch>
        </p:blipFill>
        <p:spPr>
          <a:xfrm>
            <a:off x="2510118" y="4004848"/>
            <a:ext cx="5656729" cy="2606621"/>
          </a:xfrm>
          <a:prstGeom prst="rect">
            <a:avLst/>
          </a:prstGeom>
        </p:spPr>
      </p:pic>
      <p:sp>
        <p:nvSpPr>
          <p:cNvPr id="2" name="Title 1"/>
          <p:cNvSpPr>
            <a:spLocks noGrp="1"/>
          </p:cNvSpPr>
          <p:nvPr>
            <p:ph type="title"/>
          </p:nvPr>
        </p:nvSpPr>
        <p:spPr>
          <a:xfrm>
            <a:off x="1606045" y="238551"/>
            <a:ext cx="5937755" cy="1188720"/>
          </a:xfrm>
        </p:spPr>
        <p:txBody>
          <a:bodyPr/>
          <a:lstStyle/>
          <a:p>
            <a:r>
              <a:rPr lang="en-US" dirty="0"/>
              <a:t>What is neural network?</a:t>
            </a:r>
          </a:p>
        </p:txBody>
      </p:sp>
      <p:sp>
        <p:nvSpPr>
          <p:cNvPr id="9" name="TextBox 8"/>
          <p:cNvSpPr txBox="1"/>
          <p:nvPr/>
        </p:nvSpPr>
        <p:spPr>
          <a:xfrm>
            <a:off x="430306" y="1568824"/>
            <a:ext cx="7960659" cy="3046988"/>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Neural networks are machine learning models composed of interconnected nodes or neurons that process information, identify patterns, and facilitate tasks such as decision-making and pattern recognition.</a:t>
            </a:r>
          </a:p>
          <a:p>
            <a:endParaRPr lang="en-US" sz="1600" dirty="0">
              <a:latin typeface="Times New Roman" panose="02020603050405020304" pitchFamily="18" charset="0"/>
              <a:cs typeface="Times New Roman" panose="02020603050405020304" pitchFamily="18" charset="0"/>
            </a:endParaRPr>
          </a:p>
          <a:p>
            <a:pPr fontAlgn="base"/>
            <a:r>
              <a:rPr lang="en-US" sz="1600" dirty="0">
                <a:latin typeface="Times New Roman" panose="02020603050405020304" pitchFamily="18" charset="0"/>
                <a:cs typeface="Times New Roman" panose="02020603050405020304" pitchFamily="18" charset="0"/>
              </a:rPr>
              <a:t>Networks are built from several key components:</a:t>
            </a:r>
          </a:p>
          <a:p>
            <a:pPr fontAlgn="base"/>
            <a:r>
              <a:rPr lang="en-US" sz="1600" b="1" dirty="0">
                <a:latin typeface="Times New Roman" panose="02020603050405020304" pitchFamily="18" charset="0"/>
                <a:cs typeface="Times New Roman" panose="02020603050405020304" pitchFamily="18" charset="0"/>
              </a:rPr>
              <a:t>Neurons</a:t>
            </a:r>
            <a:r>
              <a:rPr lang="en-US" sz="1600" dirty="0">
                <a:latin typeface="Times New Roman" panose="02020603050405020304" pitchFamily="18" charset="0"/>
                <a:cs typeface="Times New Roman" panose="02020603050405020304" pitchFamily="18" charset="0"/>
              </a:rPr>
              <a:t>: The basic units that receive inputs, each neuron is governed by a threshold and an activation function.</a:t>
            </a:r>
          </a:p>
          <a:p>
            <a:pPr fontAlgn="base"/>
            <a:r>
              <a:rPr lang="en-US" sz="1600" b="1" dirty="0">
                <a:latin typeface="Times New Roman" panose="02020603050405020304" pitchFamily="18" charset="0"/>
                <a:cs typeface="Times New Roman" panose="02020603050405020304" pitchFamily="18" charset="0"/>
              </a:rPr>
              <a:t>Connections</a:t>
            </a:r>
            <a:r>
              <a:rPr lang="en-US" sz="1600" dirty="0">
                <a:latin typeface="Times New Roman" panose="02020603050405020304" pitchFamily="18" charset="0"/>
                <a:cs typeface="Times New Roman" panose="02020603050405020304" pitchFamily="18" charset="0"/>
              </a:rPr>
              <a:t>: Links between neurons that carry information, regulated by weights and biases.</a:t>
            </a:r>
          </a:p>
          <a:p>
            <a:pPr fontAlgn="base"/>
            <a:r>
              <a:rPr lang="en-US" sz="1600" b="1" dirty="0">
                <a:latin typeface="Times New Roman" panose="02020603050405020304" pitchFamily="18" charset="0"/>
                <a:cs typeface="Times New Roman" panose="02020603050405020304" pitchFamily="18" charset="0"/>
              </a:rPr>
              <a:t>Weights and Biases</a:t>
            </a:r>
            <a:r>
              <a:rPr lang="en-US" sz="1600" dirty="0">
                <a:latin typeface="Times New Roman" panose="02020603050405020304" pitchFamily="18" charset="0"/>
                <a:cs typeface="Times New Roman" panose="02020603050405020304" pitchFamily="18" charset="0"/>
              </a:rPr>
              <a:t>: These parameters determine the strength and influence of connections.</a:t>
            </a:r>
          </a:p>
          <a:p>
            <a:pPr fontAlgn="base"/>
            <a:r>
              <a:rPr lang="en-US" sz="1600" b="1" dirty="0">
                <a:latin typeface="Times New Roman" panose="02020603050405020304" pitchFamily="18" charset="0"/>
                <a:cs typeface="Times New Roman" panose="02020603050405020304" pitchFamily="18" charset="0"/>
              </a:rPr>
              <a:t>Propagation Functions</a:t>
            </a:r>
            <a:r>
              <a:rPr lang="en-US" sz="1600" dirty="0">
                <a:latin typeface="Times New Roman" panose="02020603050405020304" pitchFamily="18" charset="0"/>
                <a:cs typeface="Times New Roman" panose="02020603050405020304" pitchFamily="18" charset="0"/>
              </a:rPr>
              <a:t>: Mechanisms that help process and transfer data across layers of neurons.</a:t>
            </a:r>
          </a:p>
          <a:p>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48918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stretch>
            <a:fillRect/>
          </a:stretch>
        </p:blipFill>
        <p:spPr>
          <a:xfrm>
            <a:off x="2663918" y="2802871"/>
            <a:ext cx="6200775" cy="3152775"/>
          </a:xfrm>
          <a:prstGeom prst="rect">
            <a:avLst/>
          </a:prstGeom>
        </p:spPr>
      </p:pic>
      <p:sp>
        <p:nvSpPr>
          <p:cNvPr id="11" name="TextBox 10"/>
          <p:cNvSpPr txBox="1"/>
          <p:nvPr/>
        </p:nvSpPr>
        <p:spPr>
          <a:xfrm>
            <a:off x="475129" y="1066801"/>
            <a:ext cx="6786283" cy="3816429"/>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Neuron  the output y=f(Xi*</a:t>
            </a:r>
            <a:r>
              <a:rPr lang="en-US" sz="1600" dirty="0" err="1">
                <a:latin typeface="Times New Roman" panose="02020603050405020304" pitchFamily="18" charset="0"/>
                <a:cs typeface="Times New Roman" panose="02020603050405020304" pitchFamily="18" charset="0"/>
              </a:rPr>
              <a:t>Wi+b</a:t>
            </a:r>
            <a:r>
              <a:rPr lang="en-US" sz="1600" dirty="0">
                <a:latin typeface="Times New Roman" panose="02020603050405020304" pitchFamily="18" charset="0"/>
                <a:cs typeface="Times New Roman" panose="02020603050405020304" pitchFamily="18" charset="0"/>
              </a:rPr>
              <a:t>)</a:t>
            </a:r>
          </a:p>
          <a:p>
            <a:endParaRPr lang="en-US" sz="1600" dirty="0">
              <a:latin typeface="Times New Roman" panose="02020603050405020304" pitchFamily="18" charset="0"/>
              <a:cs typeface="Times New Roman" panose="02020603050405020304" pitchFamily="18" charset="0"/>
            </a:endParaRPr>
          </a:p>
          <a:p>
            <a:pPr marL="342900" indent="-342900">
              <a:buAutoNum type="arabicPeriod"/>
            </a:pPr>
            <a:r>
              <a:rPr lang="en-US" sz="1600" dirty="0">
                <a:latin typeface="Times New Roman" panose="02020603050405020304" pitchFamily="18" charset="0"/>
                <a:cs typeface="Times New Roman" panose="02020603050405020304" pitchFamily="18" charset="0"/>
              </a:rPr>
              <a:t>Linear Transformation: Inputs are multiplied by the weights connected to each neuron in a layer. After adding a bias to the total, these products are totaled. This can be expressed numerically as: </a:t>
            </a:r>
            <a:r>
              <a:rPr lang="pl-PL" i="1" dirty="0"/>
              <a:t>z</a:t>
            </a:r>
            <a:r>
              <a:rPr lang="pl-PL" dirty="0"/>
              <a:t>=</a:t>
            </a:r>
            <a:r>
              <a:rPr lang="pl-PL" i="1" dirty="0"/>
              <a:t>w</a:t>
            </a:r>
            <a:r>
              <a:rPr lang="pl-PL" dirty="0"/>
              <a:t>1​</a:t>
            </a:r>
            <a:r>
              <a:rPr lang="pl-PL" i="1" dirty="0"/>
              <a:t>x</a:t>
            </a:r>
            <a:r>
              <a:rPr lang="pl-PL" dirty="0"/>
              <a:t>1​+</a:t>
            </a:r>
            <a:r>
              <a:rPr lang="pl-PL" i="1" dirty="0"/>
              <a:t>w</a:t>
            </a:r>
            <a:r>
              <a:rPr lang="pl-PL" dirty="0"/>
              <a:t>2​</a:t>
            </a:r>
            <a:r>
              <a:rPr lang="pl-PL" i="1" dirty="0"/>
              <a:t>x</a:t>
            </a:r>
            <a:r>
              <a:rPr lang="pl-PL" dirty="0"/>
              <a:t>2​+…+</a:t>
            </a:r>
            <a:r>
              <a:rPr lang="pl-PL" i="1" dirty="0"/>
              <a:t>wn</a:t>
            </a:r>
            <a:r>
              <a:rPr lang="pl-PL" dirty="0"/>
              <a:t>​</a:t>
            </a:r>
            <a:r>
              <a:rPr lang="pl-PL" i="1" dirty="0"/>
              <a:t>xn</a:t>
            </a:r>
            <a:r>
              <a:rPr lang="pl-PL" dirty="0"/>
              <a:t>​+</a:t>
            </a:r>
            <a:r>
              <a:rPr lang="pl-PL" i="1" dirty="0"/>
              <a:t>b </a:t>
            </a:r>
            <a:endParaRPr lang="en-US" i="1" dirty="0"/>
          </a:p>
          <a:p>
            <a:pPr marL="342900" indent="-342900">
              <a:buAutoNum type="arabicPeriod"/>
            </a:pPr>
            <a:endParaRPr lang="en-US" sz="1600" i="1"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where</a:t>
            </a: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W:represents the weights</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X: represents the inputs</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b: is the bias</a:t>
            </a:r>
          </a:p>
        </p:txBody>
      </p:sp>
    </p:spTree>
    <p:extLst>
      <p:ext uri="{BB962C8B-B14F-4D97-AF65-F5344CB8AC3E}">
        <p14:creationId xmlns:p14="http://schemas.microsoft.com/office/powerpoint/2010/main" val="31542899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Activation functions</a:t>
            </a:r>
          </a:p>
        </p:txBody>
      </p:sp>
      <p:pic>
        <p:nvPicPr>
          <p:cNvPr id="5" name="Picture 4"/>
          <p:cNvPicPr>
            <a:picLocks noChangeAspect="1"/>
          </p:cNvPicPr>
          <p:nvPr/>
        </p:nvPicPr>
        <p:blipFill>
          <a:blip r:embed="rId2"/>
          <a:stretch>
            <a:fillRect/>
          </a:stretch>
        </p:blipFill>
        <p:spPr>
          <a:xfrm>
            <a:off x="1117347" y="2450726"/>
            <a:ext cx="6915150" cy="2781300"/>
          </a:xfrm>
          <a:prstGeom prst="rect">
            <a:avLst/>
          </a:prstGeom>
        </p:spPr>
      </p:pic>
      <p:sp>
        <p:nvSpPr>
          <p:cNvPr id="6" name="TextBox 5"/>
          <p:cNvSpPr txBox="1"/>
          <p:nvPr/>
        </p:nvSpPr>
        <p:spPr>
          <a:xfrm>
            <a:off x="1114425" y="5413956"/>
            <a:ext cx="7617199" cy="1077218"/>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2. Activation: The result of the linear transformation (denoted as z) is then passed through an activation function. The activation function is crucial because it introduces non-linearity into the system, enabling the network to learn more complex patterns. Popular activation functions include </a:t>
            </a:r>
            <a:r>
              <a:rPr lang="en-US" sz="1600" dirty="0" err="1">
                <a:latin typeface="Times New Roman" panose="02020603050405020304" pitchFamily="18" charset="0"/>
                <a:cs typeface="Times New Roman" panose="02020603050405020304" pitchFamily="18" charset="0"/>
              </a:rPr>
              <a:t>ReLU</a:t>
            </a:r>
            <a:r>
              <a:rPr lang="en-US" sz="1600" dirty="0">
                <a:latin typeface="Times New Roman" panose="02020603050405020304" pitchFamily="18" charset="0"/>
                <a:cs typeface="Times New Roman" panose="02020603050405020304" pitchFamily="18" charset="0"/>
              </a:rPr>
              <a:t> and sigmoid.</a:t>
            </a:r>
          </a:p>
        </p:txBody>
      </p:sp>
    </p:spTree>
    <p:extLst>
      <p:ext uri="{BB962C8B-B14F-4D97-AF65-F5344CB8AC3E}">
        <p14:creationId xmlns:p14="http://schemas.microsoft.com/office/powerpoint/2010/main" val="14593420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Backpropagation</a:t>
            </a:r>
            <a:endParaRPr lang="en-US" dirty="0"/>
          </a:p>
        </p:txBody>
      </p:sp>
      <p:sp>
        <p:nvSpPr>
          <p:cNvPr id="3" name="Content Placeholder 2"/>
          <p:cNvSpPr>
            <a:spLocks noGrp="1"/>
          </p:cNvSpPr>
          <p:nvPr>
            <p:ph idx="1"/>
          </p:nvPr>
        </p:nvSpPr>
        <p:spPr>
          <a:xfrm>
            <a:off x="358588" y="2250141"/>
            <a:ext cx="8175811" cy="4419600"/>
          </a:xfrm>
        </p:spPr>
        <p:txBody>
          <a:bodyPr>
            <a:normAutofit lnSpcReduction="10000"/>
          </a:bodyPr>
          <a:lstStyle/>
          <a:p>
            <a:r>
              <a:rPr lang="en-US" dirty="0"/>
              <a:t>Following forward propagation, the network uses a loss function to quantify the discrepancy between the actual and expected outputs, assessing its performance. Reducing this loss is the aim of training. Backpropagation is useful in this situation:</a:t>
            </a:r>
          </a:p>
          <a:p>
            <a:endParaRPr lang="en-US" dirty="0"/>
          </a:p>
          <a:p>
            <a:pPr marL="0" indent="0">
              <a:buNone/>
            </a:pPr>
            <a:r>
              <a:rPr lang="en-US" b="1" dirty="0"/>
              <a:t>Loss Calculation</a:t>
            </a:r>
            <a:r>
              <a:rPr lang="en-US" dirty="0"/>
              <a:t>: The network determines the loss, which gives an indication of the prediction error. Although there are many options for the loss function, mean squared error is frequently used for regression tasks and cross-entropy loss for classification.</a:t>
            </a:r>
          </a:p>
          <a:p>
            <a:pPr marL="0" indent="0">
              <a:buNone/>
            </a:pPr>
            <a:r>
              <a:rPr lang="en-US" b="1" dirty="0"/>
              <a:t>Gradient Calculation</a:t>
            </a:r>
            <a:r>
              <a:rPr lang="en-US" dirty="0"/>
              <a:t>: The network calculates the gradients of the loss function in relation to each network weight and bias. This entails using the calculus chain rule to determine the relative contributions of each weight and bias to the output error.</a:t>
            </a:r>
          </a:p>
          <a:p>
            <a:pPr marL="0" indent="0">
              <a:buNone/>
            </a:pPr>
            <a:r>
              <a:rPr lang="en-US" b="1" dirty="0"/>
              <a:t>Weight Update</a:t>
            </a:r>
            <a:r>
              <a:rPr lang="en-US" dirty="0"/>
              <a:t>: After the gradients are computed, an optimization procedure such as stochastic gradient descent (SGD) is used to update the weights and biases. To reduce the loss, the weights are changed in the opposite direction of the gradient. The size of the step taken in each update is determined by the learning rate.</a:t>
            </a:r>
          </a:p>
        </p:txBody>
      </p:sp>
    </p:spTree>
    <p:extLst>
      <p:ext uri="{BB962C8B-B14F-4D97-AF65-F5344CB8AC3E}">
        <p14:creationId xmlns:p14="http://schemas.microsoft.com/office/powerpoint/2010/main" val="27521086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Iteration</a:t>
            </a:r>
            <a:endParaRPr lang="en-US" dirty="0"/>
          </a:p>
        </p:txBody>
      </p:sp>
      <p:sp>
        <p:nvSpPr>
          <p:cNvPr id="3" name="Content Placeholder 2"/>
          <p:cNvSpPr>
            <a:spLocks noGrp="1"/>
          </p:cNvSpPr>
          <p:nvPr>
            <p:ph idx="1"/>
          </p:nvPr>
        </p:nvSpPr>
        <p:spPr/>
        <p:txBody>
          <a:bodyPr/>
          <a:lstStyle/>
          <a:p>
            <a:r>
              <a:rPr lang="en-US" dirty="0"/>
              <a:t>Forward propagation, weight updating, backpropagation, and loss computation are all repeated numerous times across the dataset. This iterative approach gradually lowers the loss and improves the accuracy of the network's predictions.</a:t>
            </a:r>
          </a:p>
          <a:p>
            <a:endParaRPr lang="en-US" dirty="0"/>
          </a:p>
          <a:p>
            <a:r>
              <a:rPr lang="en-US" dirty="0"/>
              <a:t>Neural networks can perform better on tasks like classification, regression, and other predictive modeling by adjusting their parameters to more accurately represent the relationships in the data.</a:t>
            </a:r>
          </a:p>
        </p:txBody>
      </p:sp>
    </p:spTree>
    <p:extLst>
      <p:ext uri="{BB962C8B-B14F-4D97-AF65-F5344CB8AC3E}">
        <p14:creationId xmlns:p14="http://schemas.microsoft.com/office/powerpoint/2010/main" val="28915891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Refinement</a:t>
            </a:r>
            <a:endParaRPr dirty="0"/>
          </a:p>
        </p:txBody>
      </p:sp>
      <p:sp>
        <p:nvSpPr>
          <p:cNvPr id="3" name="Content Placeholder 2"/>
          <p:cNvSpPr>
            <a:spLocks noGrp="1"/>
          </p:cNvSpPr>
          <p:nvPr>
            <p:ph idx="1"/>
          </p:nvPr>
        </p:nvSpPr>
        <p:spPr>
          <a:xfrm>
            <a:off x="1112304" y="2924916"/>
            <a:ext cx="6925235" cy="3101983"/>
          </a:xfrm>
        </p:spPr>
        <p:txBody>
          <a:bodyPr>
            <a:normAutofit/>
          </a:bodyPr>
          <a:lstStyle/>
          <a:p>
            <a:r>
              <a:rPr lang="en-US" dirty="0" err="1"/>
              <a:t>Earlywildfire</a:t>
            </a:r>
            <a:r>
              <a:rPr lang="en-US" dirty="0"/>
              <a:t> indication directly from a live video stream by performing low-latency, low-power per-pixel classification on an FPGA is targeted.        	- wildfires cause severe environmental and economic damage 	 -early detection is essential to minimizing their spread. </a:t>
            </a:r>
          </a:p>
          <a:p>
            <a:r>
              <a:rPr lang="en-US" dirty="0"/>
              <a:t>Compared to cloud- or GPU-based AI solutions, an FPGA edge implementation can avoid the high latency and power draw that often limit real-time deployment.</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02240" y="360721"/>
            <a:ext cx="6939520" cy="1645920"/>
          </a:xfrm>
        </p:spPr>
        <p:txBody>
          <a:bodyPr/>
          <a:lstStyle/>
          <a:p>
            <a:r>
              <a:rPr lang="en-US" dirty="0"/>
              <a:t>architecture</a:t>
            </a:r>
            <a:endParaRPr dirty="0"/>
          </a:p>
        </p:txBody>
      </p:sp>
      <p:sp>
        <p:nvSpPr>
          <p:cNvPr id="3" name="Subtitle 2"/>
          <p:cNvSpPr>
            <a:spLocks noGrp="1"/>
          </p:cNvSpPr>
          <p:nvPr>
            <p:ph type="subTitle" idx="1"/>
          </p:nvPr>
        </p:nvSpPr>
        <p:spPr>
          <a:xfrm>
            <a:off x="129842" y="2325138"/>
            <a:ext cx="5101209" cy="1239894"/>
          </a:xfrm>
        </p:spPr>
        <p:txBody>
          <a:bodyPr/>
          <a:lstStyle/>
          <a:p>
            <a:r>
              <a:rPr lang="en-US" dirty="0"/>
              <a:t>The architecture used is a </a:t>
            </a:r>
            <a:r>
              <a:rPr dirty="0"/>
              <a:t>3–7–2 MLP</a:t>
            </a:r>
            <a:r>
              <a:rPr lang="en-US" dirty="0"/>
              <a:t> in python for training and then in VHDL for inference</a:t>
            </a:r>
            <a:endParaRPr dirty="0"/>
          </a:p>
        </p:txBody>
      </p:sp>
      <p:pic>
        <p:nvPicPr>
          <p:cNvPr id="4" name="Picture 3"/>
          <p:cNvPicPr>
            <a:picLocks noChangeAspect="1"/>
          </p:cNvPicPr>
          <p:nvPr/>
        </p:nvPicPr>
        <p:blipFill>
          <a:blip r:embed="rId2"/>
          <a:stretch>
            <a:fillRect/>
          </a:stretch>
        </p:blipFill>
        <p:spPr>
          <a:xfrm>
            <a:off x="4329953" y="3350245"/>
            <a:ext cx="4398310" cy="2814918"/>
          </a:xfrm>
          <a:prstGeom prst="rect">
            <a:avLst/>
          </a:prstGeom>
        </p:spPr>
      </p:pic>
      <p:sp>
        <p:nvSpPr>
          <p:cNvPr id="5" name="TextBox 4"/>
          <p:cNvSpPr txBox="1"/>
          <p:nvPr/>
        </p:nvSpPr>
        <p:spPr>
          <a:xfrm>
            <a:off x="286871" y="3110753"/>
            <a:ext cx="3684494" cy="3046988"/>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class MLP:</a:t>
            </a:r>
          </a:p>
          <a:p>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def</a:t>
            </a:r>
            <a:r>
              <a:rPr lang="en-US" sz="1200" dirty="0">
                <a:latin typeface="Times New Roman" panose="02020603050405020304" pitchFamily="18" charset="0"/>
                <a:cs typeface="Times New Roman" panose="02020603050405020304" pitchFamily="18" charset="0"/>
              </a:rPr>
              <a:t> __</a:t>
            </a:r>
            <a:r>
              <a:rPr lang="en-US" sz="1200" dirty="0" err="1">
                <a:latin typeface="Times New Roman" panose="02020603050405020304" pitchFamily="18" charset="0"/>
                <a:cs typeface="Times New Roman" panose="02020603050405020304" pitchFamily="18" charset="0"/>
              </a:rPr>
              <a:t>init</a:t>
            </a:r>
            <a:r>
              <a:rPr lang="en-US" sz="1200" dirty="0">
                <a:latin typeface="Times New Roman" panose="02020603050405020304" pitchFamily="18" charset="0"/>
                <a:cs typeface="Times New Roman" panose="02020603050405020304" pitchFamily="18" charset="0"/>
              </a:rPr>
              <a:t>__(self, </a:t>
            </a:r>
            <a:r>
              <a:rPr lang="en-US" sz="1200" dirty="0" err="1">
                <a:latin typeface="Times New Roman" panose="02020603050405020304" pitchFamily="18" charset="0"/>
                <a:cs typeface="Times New Roman" panose="02020603050405020304" pitchFamily="18" charset="0"/>
              </a:rPr>
              <a:t>in_dim</a:t>
            </a:r>
            <a:r>
              <a:rPr lang="en-US" sz="1200" dirty="0">
                <a:latin typeface="Times New Roman" panose="02020603050405020304" pitchFamily="18" charset="0"/>
                <a:cs typeface="Times New Roman" panose="02020603050405020304" pitchFamily="18" charset="0"/>
              </a:rPr>
              <a:t>, hidden, </a:t>
            </a:r>
            <a:r>
              <a:rPr lang="en-US" sz="1200" dirty="0" err="1">
                <a:latin typeface="Times New Roman" panose="02020603050405020304" pitchFamily="18" charset="0"/>
                <a:cs typeface="Times New Roman" panose="02020603050405020304" pitchFamily="18" charset="0"/>
              </a:rPr>
              <a:t>out_dim</a:t>
            </a:r>
            <a:r>
              <a:rPr lang="en-US" sz="1200" dirty="0">
                <a:latin typeface="Times New Roman" panose="02020603050405020304" pitchFamily="18" charset="0"/>
                <a:cs typeface="Times New Roman" panose="02020603050405020304" pitchFamily="18" charset="0"/>
              </a:rPr>
              <a:t>, act="sigmoid"):</a:t>
            </a:r>
          </a:p>
          <a:p>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rng</a:t>
            </a:r>
            <a:r>
              <a:rPr lang="en-US" sz="1200" dirty="0">
                <a:latin typeface="Times New Roman" panose="02020603050405020304" pitchFamily="18" charset="0"/>
                <a:cs typeface="Times New Roman" panose="02020603050405020304" pitchFamily="18" charset="0"/>
              </a:rPr>
              <a:t> = </a:t>
            </a:r>
            <a:r>
              <a:rPr lang="en-US" sz="1200" dirty="0" err="1">
                <a:latin typeface="Times New Roman" panose="02020603050405020304" pitchFamily="18" charset="0"/>
                <a:cs typeface="Times New Roman" panose="02020603050405020304" pitchFamily="18" charset="0"/>
              </a:rPr>
              <a:t>np.random.default_rng</a:t>
            </a:r>
            <a:r>
              <a:rPr lang="en-US" sz="1200" dirty="0">
                <a:latin typeface="Times New Roman" panose="02020603050405020304" pitchFamily="18" charset="0"/>
                <a:cs typeface="Times New Roman" panose="02020603050405020304" pitchFamily="18" charset="0"/>
              </a:rPr>
              <a:t>(42)</a:t>
            </a:r>
          </a:p>
          <a:p>
            <a:r>
              <a:rPr lang="en-US" sz="1200" dirty="0">
                <a:latin typeface="Times New Roman" panose="02020603050405020304" pitchFamily="18" charset="0"/>
                <a:cs typeface="Times New Roman" panose="02020603050405020304" pitchFamily="18" charset="0"/>
              </a:rPr>
              <a:t>        self.W1 = </a:t>
            </a:r>
            <a:r>
              <a:rPr lang="en-US" sz="1200" dirty="0" err="1">
                <a:latin typeface="Times New Roman" panose="02020603050405020304" pitchFamily="18" charset="0"/>
                <a:cs typeface="Times New Roman" panose="02020603050405020304" pitchFamily="18" charset="0"/>
              </a:rPr>
              <a:t>rng.normal</a:t>
            </a:r>
            <a:r>
              <a:rPr lang="en-US" sz="1200" dirty="0">
                <a:latin typeface="Times New Roman" panose="02020603050405020304" pitchFamily="18" charset="0"/>
                <a:cs typeface="Times New Roman" panose="02020603050405020304" pitchFamily="18" charset="0"/>
              </a:rPr>
              <a:t>(0, 0.2, (hidden, </a:t>
            </a:r>
            <a:r>
              <a:rPr lang="en-US" sz="1200" dirty="0" err="1">
                <a:latin typeface="Times New Roman" panose="02020603050405020304" pitchFamily="18" charset="0"/>
                <a:cs typeface="Times New Roman" panose="02020603050405020304" pitchFamily="18" charset="0"/>
              </a:rPr>
              <a:t>in_dim</a:t>
            </a:r>
            <a:r>
              <a:rPr lang="en-US" sz="1200" dirty="0">
                <a:latin typeface="Times New Roman" panose="02020603050405020304" pitchFamily="18" charset="0"/>
                <a:cs typeface="Times New Roman" panose="02020603050405020304" pitchFamily="18" charset="0"/>
              </a:rPr>
              <a:t>)).</a:t>
            </a:r>
            <a:r>
              <a:rPr lang="en-US" sz="1200" dirty="0" err="1">
                <a:latin typeface="Times New Roman" panose="02020603050405020304" pitchFamily="18" charset="0"/>
                <a:cs typeface="Times New Roman" panose="02020603050405020304" pitchFamily="18" charset="0"/>
              </a:rPr>
              <a:t>astype</a:t>
            </a:r>
            <a:r>
              <a:rPr lang="en-US" sz="1200" dirty="0">
                <a:latin typeface="Times New Roman" panose="02020603050405020304" pitchFamily="18" charset="0"/>
                <a:cs typeface="Times New Roman" panose="02020603050405020304" pitchFamily="18" charset="0"/>
              </a:rPr>
              <a:t>(np.float32)</a:t>
            </a:r>
          </a:p>
          <a:p>
            <a:r>
              <a:rPr lang="en-US" sz="1200" dirty="0">
                <a:latin typeface="Times New Roman" panose="02020603050405020304" pitchFamily="18" charset="0"/>
                <a:cs typeface="Times New Roman" panose="02020603050405020304" pitchFamily="18" charset="0"/>
              </a:rPr>
              <a:t>        self.b1 = </a:t>
            </a:r>
            <a:r>
              <a:rPr lang="en-US" sz="1200" dirty="0" err="1">
                <a:latin typeface="Times New Roman" panose="02020603050405020304" pitchFamily="18" charset="0"/>
                <a:cs typeface="Times New Roman" panose="02020603050405020304" pitchFamily="18" charset="0"/>
              </a:rPr>
              <a:t>np.zeros</a:t>
            </a:r>
            <a:r>
              <a:rPr lang="en-US" sz="1200" dirty="0">
                <a:latin typeface="Times New Roman" panose="02020603050405020304" pitchFamily="18" charset="0"/>
                <a:cs typeface="Times New Roman" panose="02020603050405020304" pitchFamily="18" charset="0"/>
              </a:rPr>
              <a:t>((hidden,), </a:t>
            </a:r>
            <a:r>
              <a:rPr lang="en-US" sz="1200" dirty="0" err="1">
                <a:latin typeface="Times New Roman" panose="02020603050405020304" pitchFamily="18" charset="0"/>
                <a:cs typeface="Times New Roman" panose="02020603050405020304" pitchFamily="18" charset="0"/>
              </a:rPr>
              <a:t>dtype</a:t>
            </a:r>
            <a:r>
              <a:rPr lang="en-US" sz="1200" dirty="0">
                <a:latin typeface="Times New Roman" panose="02020603050405020304" pitchFamily="18" charset="0"/>
                <a:cs typeface="Times New Roman" panose="02020603050405020304" pitchFamily="18" charset="0"/>
              </a:rPr>
              <a:t>=np.float32)</a:t>
            </a:r>
          </a:p>
          <a:p>
            <a:r>
              <a:rPr lang="en-US" sz="1200" dirty="0">
                <a:latin typeface="Times New Roman" panose="02020603050405020304" pitchFamily="18" charset="0"/>
                <a:cs typeface="Times New Roman" panose="02020603050405020304" pitchFamily="18" charset="0"/>
              </a:rPr>
              <a:t>        self.W2 = </a:t>
            </a:r>
            <a:r>
              <a:rPr lang="en-US" sz="1200" dirty="0" err="1">
                <a:latin typeface="Times New Roman" panose="02020603050405020304" pitchFamily="18" charset="0"/>
                <a:cs typeface="Times New Roman" panose="02020603050405020304" pitchFamily="18" charset="0"/>
              </a:rPr>
              <a:t>rng.normal</a:t>
            </a:r>
            <a:r>
              <a:rPr lang="en-US" sz="1200" dirty="0">
                <a:latin typeface="Times New Roman" panose="02020603050405020304" pitchFamily="18" charset="0"/>
                <a:cs typeface="Times New Roman" panose="02020603050405020304" pitchFamily="18" charset="0"/>
              </a:rPr>
              <a:t>(0, 0.2, (</a:t>
            </a:r>
            <a:r>
              <a:rPr lang="en-US" sz="1200" dirty="0" err="1">
                <a:latin typeface="Times New Roman" panose="02020603050405020304" pitchFamily="18" charset="0"/>
                <a:cs typeface="Times New Roman" panose="02020603050405020304" pitchFamily="18" charset="0"/>
              </a:rPr>
              <a:t>out_dim</a:t>
            </a:r>
            <a:r>
              <a:rPr lang="en-US" sz="1200" dirty="0">
                <a:latin typeface="Times New Roman" panose="02020603050405020304" pitchFamily="18" charset="0"/>
                <a:cs typeface="Times New Roman" panose="02020603050405020304" pitchFamily="18" charset="0"/>
              </a:rPr>
              <a:t>, hidden)).</a:t>
            </a:r>
            <a:r>
              <a:rPr lang="en-US" sz="1200" dirty="0" err="1">
                <a:latin typeface="Times New Roman" panose="02020603050405020304" pitchFamily="18" charset="0"/>
                <a:cs typeface="Times New Roman" panose="02020603050405020304" pitchFamily="18" charset="0"/>
              </a:rPr>
              <a:t>astype</a:t>
            </a:r>
            <a:r>
              <a:rPr lang="en-US" sz="1200" dirty="0">
                <a:latin typeface="Times New Roman" panose="02020603050405020304" pitchFamily="18" charset="0"/>
                <a:cs typeface="Times New Roman" panose="02020603050405020304" pitchFamily="18" charset="0"/>
              </a:rPr>
              <a:t>(np.float32)</a:t>
            </a:r>
          </a:p>
          <a:p>
            <a:r>
              <a:rPr lang="en-US" sz="1200" dirty="0">
                <a:latin typeface="Times New Roman" panose="02020603050405020304" pitchFamily="18" charset="0"/>
                <a:cs typeface="Times New Roman" panose="02020603050405020304" pitchFamily="18" charset="0"/>
              </a:rPr>
              <a:t>        self.b2 = </a:t>
            </a:r>
            <a:r>
              <a:rPr lang="en-US" sz="1200" dirty="0" err="1">
                <a:latin typeface="Times New Roman" panose="02020603050405020304" pitchFamily="18" charset="0"/>
                <a:cs typeface="Times New Roman" panose="02020603050405020304" pitchFamily="18" charset="0"/>
              </a:rPr>
              <a:t>np.zeros</a:t>
            </a:r>
            <a:r>
              <a:rPr lang="en-US" sz="1200" dirty="0">
                <a:latin typeface="Times New Roman" panose="02020603050405020304" pitchFamily="18" charset="0"/>
                <a:cs typeface="Times New Roman" panose="02020603050405020304" pitchFamily="18" charset="0"/>
              </a:rPr>
              <a:t>((</a:t>
            </a:r>
            <a:r>
              <a:rPr lang="en-US" sz="1200" dirty="0" err="1">
                <a:latin typeface="Times New Roman" panose="02020603050405020304" pitchFamily="18" charset="0"/>
                <a:cs typeface="Times New Roman" panose="02020603050405020304" pitchFamily="18" charset="0"/>
              </a:rPr>
              <a:t>out_dim</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dtype</a:t>
            </a:r>
            <a:r>
              <a:rPr lang="en-US" sz="1200" dirty="0">
                <a:latin typeface="Times New Roman" panose="02020603050405020304" pitchFamily="18" charset="0"/>
                <a:cs typeface="Times New Roman" panose="02020603050405020304" pitchFamily="18" charset="0"/>
              </a:rPr>
              <a:t>=np.float32)</a:t>
            </a:r>
          </a:p>
          <a:p>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self.act</a:t>
            </a:r>
            <a:r>
              <a:rPr lang="en-US" sz="1200" dirty="0">
                <a:latin typeface="Times New Roman" panose="02020603050405020304" pitchFamily="18" charset="0"/>
                <a:cs typeface="Times New Roman" panose="02020603050405020304" pitchFamily="18" charset="0"/>
              </a:rPr>
              <a:t> = sigmoid if act == "sigmoid" else </a:t>
            </a:r>
            <a:r>
              <a:rPr lang="en-US" sz="1200" dirty="0" err="1">
                <a:latin typeface="Times New Roman" panose="02020603050405020304" pitchFamily="18" charset="0"/>
                <a:cs typeface="Times New Roman" panose="02020603050405020304" pitchFamily="18" charset="0"/>
              </a:rPr>
              <a:t>relu</a:t>
            </a:r>
            <a:endParaRPr lang="en-US" sz="1200"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def</a:t>
            </a:r>
            <a:r>
              <a:rPr lang="en-US" sz="1200" dirty="0">
                <a:latin typeface="Times New Roman" panose="02020603050405020304" pitchFamily="18" charset="0"/>
                <a:cs typeface="Times New Roman" panose="02020603050405020304" pitchFamily="18" charset="0"/>
              </a:rPr>
              <a:t> forward(self, x):</a:t>
            </a:r>
          </a:p>
          <a:p>
            <a:r>
              <a:rPr lang="en-US" sz="1200" dirty="0">
                <a:latin typeface="Times New Roman" panose="02020603050405020304" pitchFamily="18" charset="0"/>
                <a:cs typeface="Times New Roman" panose="02020603050405020304" pitchFamily="18" charset="0"/>
              </a:rPr>
              <a:t>        h = </a:t>
            </a:r>
            <a:r>
              <a:rPr lang="en-US" sz="1200" dirty="0" err="1">
                <a:latin typeface="Times New Roman" panose="02020603050405020304" pitchFamily="18" charset="0"/>
                <a:cs typeface="Times New Roman" panose="02020603050405020304" pitchFamily="18" charset="0"/>
              </a:rPr>
              <a:t>self.act</a:t>
            </a:r>
            <a:r>
              <a:rPr lang="en-US" sz="1200" dirty="0">
                <a:latin typeface="Times New Roman" panose="02020603050405020304" pitchFamily="18" charset="0"/>
                <a:cs typeface="Times New Roman" panose="02020603050405020304" pitchFamily="18" charset="0"/>
              </a:rPr>
              <a:t>(x @ self.W1.T + self.b1)</a:t>
            </a:r>
          </a:p>
          <a:p>
            <a:r>
              <a:rPr lang="en-US" sz="1200" dirty="0">
                <a:latin typeface="Times New Roman" panose="02020603050405020304" pitchFamily="18" charset="0"/>
                <a:cs typeface="Times New Roman" panose="02020603050405020304" pitchFamily="18" charset="0"/>
              </a:rPr>
              <a:t>        z = h @ self.W2.T + self.b2</a:t>
            </a:r>
          </a:p>
          <a:p>
            <a:r>
              <a:rPr lang="en-US" sz="1200" dirty="0">
                <a:latin typeface="Times New Roman" panose="02020603050405020304" pitchFamily="18" charset="0"/>
                <a:cs typeface="Times New Roman" panose="02020603050405020304" pitchFamily="18" charset="0"/>
              </a:rPr>
              <a:t>        return z, h</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6045" y="223664"/>
            <a:ext cx="5937755" cy="1188720"/>
          </a:xfrm>
        </p:spPr>
        <p:txBody>
          <a:bodyPr>
            <a:normAutofit/>
          </a:bodyPr>
          <a:lstStyle/>
          <a:p>
            <a:r>
              <a:rPr dirty="0"/>
              <a:t>Neural Network Topology and Quantization</a:t>
            </a:r>
          </a:p>
        </p:txBody>
      </p:sp>
      <p:cxnSp>
        <p:nvCxnSpPr>
          <p:cNvPr id="15" name="Connector 14"/>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2062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2062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42062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2062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42062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42062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42062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42062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42062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42062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42062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42062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42062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4206240" y="0"/>
            <a:ext cx="2194560" cy="0"/>
          </a:xfrm>
          <a:prstGeom prst="line">
            <a:avLst/>
          </a:prstGeom>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3484318" y="2473296"/>
            <a:ext cx="5220412" cy="2031325"/>
          </a:xfrm>
          <a:prstGeom prst="rect">
            <a:avLst/>
          </a:prstGeom>
          <a:noFill/>
        </p:spPr>
        <p:txBody>
          <a:bodyPr wrap="square">
            <a:spAutoFit/>
          </a:bodyPr>
          <a:lstStyle/>
          <a:p>
            <a:r>
              <a:rPr dirty="0"/>
              <a:t>Fixed-point design:</a:t>
            </a:r>
          </a:p>
          <a:p>
            <a:r>
              <a:rPr dirty="0"/>
              <a:t>- Inputs: 8-bit RGB (0..255) normalized in integer domain</a:t>
            </a:r>
          </a:p>
          <a:p>
            <a:r>
              <a:rPr dirty="0"/>
              <a:t>- Weights/bias: signed </a:t>
            </a:r>
            <a:r>
              <a:rPr dirty="0" err="1"/>
              <a:t>ints</a:t>
            </a:r>
            <a:r>
              <a:rPr dirty="0"/>
              <a:t> (exported from Python)</a:t>
            </a:r>
          </a:p>
          <a:p>
            <a:r>
              <a:rPr dirty="0"/>
              <a:t>- Activation: 12-bit address -&gt; 8-bit output ROM (sigmoid LUT)</a:t>
            </a:r>
          </a:p>
          <a:p>
            <a:r>
              <a:rPr dirty="0"/>
              <a:t>- Total </a:t>
            </a:r>
            <a:r>
              <a:rPr dirty="0" err="1"/>
              <a:t>params</a:t>
            </a:r>
            <a:r>
              <a:rPr dirty="0"/>
              <a:t>: 44 </a:t>
            </a:r>
            <a:r>
              <a:rPr dirty="0" err="1"/>
              <a:t>ints</a:t>
            </a:r>
            <a:r>
              <a:rPr dirty="0"/>
              <a:t> (3x7 + 7 bias + 7x2 + 2 bias)</a:t>
            </a:r>
          </a:p>
        </p:txBody>
      </p:sp>
      <p:pic>
        <p:nvPicPr>
          <p:cNvPr id="54" name="Picture 5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825" y="1636047"/>
            <a:ext cx="2977622" cy="429409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Fixed-Point and LUT Activation</a:t>
            </a:r>
          </a:p>
        </p:txBody>
      </p:sp>
      <p:sp>
        <p:nvSpPr>
          <p:cNvPr id="3" name="Content Placeholder 2"/>
          <p:cNvSpPr>
            <a:spLocks noGrp="1"/>
          </p:cNvSpPr>
          <p:nvPr>
            <p:ph idx="1"/>
          </p:nvPr>
        </p:nvSpPr>
        <p:spPr/>
        <p:txBody>
          <a:bodyPr/>
          <a:lstStyle/>
          <a:p>
            <a:pPr>
              <a:lnSpc>
                <a:spcPct val="300000"/>
              </a:lnSpc>
            </a:pPr>
            <a:r>
              <a:rPr dirty="0"/>
              <a:t>Weights/bias quantized to integers, packed in VHDL arrays</a:t>
            </a:r>
          </a:p>
          <a:p>
            <a:pPr>
              <a:lnSpc>
                <a:spcPct val="300000"/>
              </a:lnSpc>
            </a:pPr>
            <a:r>
              <a:rPr dirty="0"/>
              <a:t>Sigmoid implemented as ROM (12-bit address)</a:t>
            </a:r>
            <a:endParaRPr lang="en-US" dirty="0"/>
          </a:p>
          <a:p>
            <a:pPr>
              <a:lnSpc>
                <a:spcPct val="300000"/>
              </a:lnSpc>
            </a:pPr>
            <a:r>
              <a:rPr dirty="0"/>
              <a:t>Neuron pipeline: parallel multipliers + accumulator + LUT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Dataset and Sampling</a:t>
            </a:r>
          </a:p>
        </p:txBody>
      </p:sp>
      <p:sp>
        <p:nvSpPr>
          <p:cNvPr id="3" name="Content Placeholder 2"/>
          <p:cNvSpPr>
            <a:spLocks noGrp="1"/>
          </p:cNvSpPr>
          <p:nvPr>
            <p:ph idx="1"/>
          </p:nvPr>
        </p:nvSpPr>
        <p:spPr/>
        <p:txBody>
          <a:bodyPr>
            <a:noAutofit/>
          </a:bodyPr>
          <a:lstStyle/>
          <a:p>
            <a:pPr>
              <a:lnSpc>
                <a:spcPct val="200000"/>
              </a:lnSpc>
            </a:pPr>
            <a:r>
              <a:rPr dirty="0"/>
              <a:t>Source: wildfire images + segmentation masks (where available)</a:t>
            </a:r>
          </a:p>
          <a:p>
            <a:pPr lvl="1">
              <a:lnSpc>
                <a:spcPct val="200000"/>
              </a:lnSpc>
            </a:pPr>
            <a:r>
              <a:rPr dirty="0"/>
              <a:t>Per-image random pixel sampling; balanced </a:t>
            </a:r>
            <a:r>
              <a:rPr dirty="0" err="1"/>
              <a:t>pos</a:t>
            </a:r>
            <a:r>
              <a:rPr dirty="0"/>
              <a:t>/</a:t>
            </a:r>
            <a:r>
              <a:rPr dirty="0" err="1"/>
              <a:t>neg</a:t>
            </a:r>
            <a:r>
              <a:rPr dirty="0"/>
              <a:t> when</a:t>
            </a:r>
            <a:r>
              <a:rPr lang="en-US" dirty="0"/>
              <a:t> </a:t>
            </a:r>
            <a:r>
              <a:rPr dirty="0"/>
              <a:t>mask exists</a:t>
            </a:r>
          </a:p>
          <a:p>
            <a:pPr lvl="1">
              <a:lnSpc>
                <a:spcPct val="200000"/>
              </a:lnSpc>
            </a:pPr>
            <a:r>
              <a:rPr dirty="0"/>
              <a:t>Features: raw RGB (8-bit each); Labels: fire vs not-fire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Experimental Results</a:t>
            </a:r>
          </a:p>
        </p:txBody>
      </p:sp>
      <p:sp>
        <p:nvSpPr>
          <p:cNvPr id="3" name="Content Placeholder 2"/>
          <p:cNvSpPr>
            <a:spLocks noGrp="1"/>
          </p:cNvSpPr>
          <p:nvPr>
            <p:ph idx="1"/>
          </p:nvPr>
        </p:nvSpPr>
        <p:spPr/>
        <p:txBody>
          <a:bodyPr/>
          <a:lstStyle/>
          <a:p>
            <a:r>
              <a:rPr lang="en-US" dirty="0"/>
              <a:t>Software evaluation</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200702"/>
            <a:ext cx="3657298" cy="3657298"/>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0" y="3200702"/>
            <a:ext cx="4571622" cy="3657298"/>
          </a:xfrm>
          <a:prstGeom prst="rect">
            <a:avLst/>
          </a:prstGeom>
        </p:spPr>
      </p:pic>
    </p:spTree>
    <p:extLst>
      <p:ext uri="{BB962C8B-B14F-4D97-AF65-F5344CB8AC3E}">
        <p14:creationId xmlns:p14="http://schemas.microsoft.com/office/powerpoint/2010/main" val="5594255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6045" y="214194"/>
            <a:ext cx="5937755" cy="1188720"/>
          </a:xfrm>
        </p:spPr>
        <p:txBody>
          <a:bodyPr/>
          <a:lstStyle/>
          <a:p>
            <a:r>
              <a:t>Dataset Examples</a:t>
            </a:r>
          </a:p>
        </p:txBody>
      </p:sp>
      <p:pic>
        <p:nvPicPr>
          <p:cNvPr id="3" name="Picture 2" descr="Img_0.jpg"/>
          <p:cNvPicPr>
            <a:picLocks noChangeAspect="1"/>
          </p:cNvPicPr>
          <p:nvPr/>
        </p:nvPicPr>
        <p:blipFill>
          <a:blip r:embed="rId2"/>
          <a:stretch>
            <a:fillRect/>
          </a:stretch>
        </p:blipFill>
        <p:spPr>
          <a:xfrm>
            <a:off x="134572" y="1709756"/>
            <a:ext cx="4754880" cy="4754880"/>
          </a:xfrm>
          <a:prstGeom prst="rect">
            <a:avLst/>
          </a:prstGeom>
        </p:spPr>
      </p:pic>
      <p:sp>
        <p:nvSpPr>
          <p:cNvPr id="4" name="TextBox 3"/>
          <p:cNvSpPr txBox="1"/>
          <p:nvPr/>
        </p:nvSpPr>
        <p:spPr>
          <a:xfrm>
            <a:off x="393365" y="6435306"/>
            <a:ext cx="4754880" cy="365760"/>
          </a:xfrm>
          <a:prstGeom prst="rect">
            <a:avLst/>
          </a:prstGeom>
          <a:noFill/>
        </p:spPr>
        <p:txBody>
          <a:bodyPr wrap="none">
            <a:spAutoFit/>
          </a:bodyPr>
          <a:lstStyle/>
          <a:p>
            <a:r>
              <a:t>Fire</a:t>
            </a:r>
          </a:p>
        </p:txBody>
      </p:sp>
      <p:pic>
        <p:nvPicPr>
          <p:cNvPr id="5" name="Picture 4" descr="Img_10455.jpg"/>
          <p:cNvPicPr>
            <a:picLocks noChangeAspect="1"/>
          </p:cNvPicPr>
          <p:nvPr/>
        </p:nvPicPr>
        <p:blipFill>
          <a:blip r:embed="rId3"/>
          <a:stretch>
            <a:fillRect/>
          </a:stretch>
        </p:blipFill>
        <p:spPr>
          <a:xfrm>
            <a:off x="4889452" y="1709756"/>
            <a:ext cx="4754880" cy="4754880"/>
          </a:xfrm>
          <a:prstGeom prst="rect">
            <a:avLst/>
          </a:prstGeom>
        </p:spPr>
      </p:pic>
      <p:sp>
        <p:nvSpPr>
          <p:cNvPr id="6" name="TextBox 5"/>
          <p:cNvSpPr txBox="1"/>
          <p:nvPr/>
        </p:nvSpPr>
        <p:spPr>
          <a:xfrm>
            <a:off x="5166360" y="6419520"/>
            <a:ext cx="4754880" cy="365760"/>
          </a:xfrm>
          <a:prstGeom prst="rect">
            <a:avLst/>
          </a:prstGeom>
          <a:noFill/>
        </p:spPr>
        <p:txBody>
          <a:bodyPr wrap="none">
            <a:spAutoFit/>
          </a:bodyPr>
          <a:lstStyle/>
          <a:p>
            <a:r>
              <a:rPr dirty="0"/>
              <a:t>Not Fire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Simulation Output</a:t>
            </a:r>
          </a:p>
        </p:txBody>
      </p:sp>
      <p:pic>
        <p:nvPicPr>
          <p:cNvPr id="5" name="Content Placeholder 4"/>
          <p:cNvPicPr>
            <a:picLocks noGrp="1" noChangeAspect="1"/>
          </p:cNvPicPr>
          <p:nvPr>
            <p:ph idx="1"/>
          </p:nvPr>
        </p:nvPicPr>
        <p:blipFill rotWithShape="1">
          <a:blip r:embed="rId2"/>
          <a:srcRect l="18678"/>
          <a:stretch/>
        </p:blipFill>
        <p:spPr>
          <a:xfrm>
            <a:off x="923365" y="2319743"/>
            <a:ext cx="5190989" cy="3488368"/>
          </a:xfrm>
          <a:prstGeom prst="rect">
            <a:avLst/>
          </a:prstGeom>
        </p:spPr>
      </p:pic>
      <p:sp>
        <p:nvSpPr>
          <p:cNvPr id="3" name="Rectangle 2"/>
          <p:cNvSpPr/>
          <p:nvPr/>
        </p:nvSpPr>
        <p:spPr>
          <a:xfrm>
            <a:off x="2288921" y="5978601"/>
            <a:ext cx="4572000" cy="646331"/>
          </a:xfrm>
          <a:prstGeom prst="rect">
            <a:avLst/>
          </a:prstGeom>
        </p:spPr>
        <p:txBody>
          <a:bodyPr>
            <a:spAutoFit/>
          </a:bodyPr>
          <a:lstStyle/>
          <a:p>
            <a:r>
              <a:rPr lang="en-US" dirty="0"/>
              <a:t>Offline accuracy on held-out pixels 79.7% (</a:t>
            </a:r>
            <a:r>
              <a:rPr lang="en-US" dirty="0" err="1"/>
              <a:t>val</a:t>
            </a:r>
            <a:r>
              <a:rPr lang="en-US" dirty="0"/>
              <a:t> split 20%)</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73388" y="2319743"/>
            <a:ext cx="3503685" cy="348836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Hardware implementation</a:t>
            </a:r>
          </a:p>
        </p:txBody>
      </p:sp>
      <p:sp>
        <p:nvSpPr>
          <p:cNvPr id="3" name="Content Placeholder 2"/>
          <p:cNvSpPr>
            <a:spLocks noGrp="1"/>
          </p:cNvSpPr>
          <p:nvPr>
            <p:ph idx="1"/>
          </p:nvPr>
        </p:nvSpPr>
        <p:spPr/>
        <p:txBody>
          <a:bodyPr>
            <a:normAutofit lnSpcReduction="10000"/>
          </a:bodyPr>
          <a:lstStyle/>
          <a:p>
            <a:pPr>
              <a:lnSpc>
                <a:spcPct val="150000"/>
              </a:lnSpc>
            </a:pPr>
            <a:r>
              <a:rPr lang="en-US" dirty="0"/>
              <a:t>After the training is completed in Python, the parameters are exported as a table where the values are inserted later as fixed values in </a:t>
            </a:r>
            <a:r>
              <a:rPr lang="en-US" dirty="0" err="1"/>
              <a:t>vhdl</a:t>
            </a:r>
            <a:r>
              <a:rPr lang="en-US" dirty="0"/>
              <a:t>.</a:t>
            </a:r>
          </a:p>
          <a:p>
            <a:pPr>
              <a:lnSpc>
                <a:spcPct val="150000"/>
              </a:lnSpc>
            </a:pPr>
            <a:r>
              <a:rPr lang="en-US" dirty="0"/>
              <a:t>The architecture does not change, it is just implemented in hardware.</a:t>
            </a:r>
          </a:p>
          <a:p>
            <a:pPr>
              <a:lnSpc>
                <a:spcPct val="150000"/>
              </a:lnSpc>
            </a:pPr>
            <a:r>
              <a:rPr lang="en-US" dirty="0"/>
              <a:t>The hardware does not change the values of the parameters, it is only for inference.</a:t>
            </a:r>
          </a:p>
        </p:txBody>
      </p:sp>
    </p:spTree>
    <p:extLst>
      <p:ext uri="{BB962C8B-B14F-4D97-AF65-F5344CB8AC3E}">
        <p14:creationId xmlns:p14="http://schemas.microsoft.com/office/powerpoint/2010/main" val="3230168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33705" y="640968"/>
            <a:ext cx="5937755" cy="1188720"/>
          </a:xfrm>
        </p:spPr>
        <p:txBody>
          <a:bodyPr/>
          <a:lstStyle/>
          <a:p>
            <a:r>
              <a:rPr dirty="0"/>
              <a:t>FPGA Top-Level Processing Chain</a:t>
            </a:r>
          </a:p>
        </p:txBody>
      </p:sp>
      <p:sp>
        <p:nvSpPr>
          <p:cNvPr id="3" name="Rounded Rectangle 2"/>
          <p:cNvSpPr/>
          <p:nvPr/>
        </p:nvSpPr>
        <p:spPr>
          <a:xfrm>
            <a:off x="281940" y="1951991"/>
            <a:ext cx="2011680" cy="914400"/>
          </a:xfrm>
          <a:prstGeom prst="roundRect">
            <a:avLst/>
          </a:prstGeom>
          <a:solidFill>
            <a:srgbClr val="555555"/>
          </a:solidFill>
        </p:spPr>
        <p:style>
          <a:lnRef idx="1">
            <a:schemeClr val="accent1"/>
          </a:lnRef>
          <a:fillRef idx="3">
            <a:schemeClr val="accent1"/>
          </a:fillRef>
          <a:effectRef idx="2">
            <a:schemeClr val="accent1"/>
          </a:effectRef>
          <a:fontRef idx="minor">
            <a:schemeClr val="lt1"/>
          </a:fontRef>
        </p:style>
        <p:txBody>
          <a:bodyPr rtlCol="0" anchor="ctr"/>
          <a:lstStyle/>
          <a:p>
            <a:pPr>
              <a:defRPr>
                <a:solidFill>
                  <a:srgbClr val="FFFFFF"/>
                </a:solidFill>
              </a:defRPr>
            </a:pPr>
            <a:r>
              <a:rPr dirty="0"/>
              <a:t>Video Rx</a:t>
            </a:r>
          </a:p>
          <a:p>
            <a:r>
              <a:rPr dirty="0"/>
              <a:t>PCLK, HS/VS/DE</a:t>
            </a:r>
          </a:p>
          <a:p>
            <a:r>
              <a:rPr dirty="0"/>
              <a:t>RGB888</a:t>
            </a:r>
          </a:p>
        </p:txBody>
      </p:sp>
      <p:sp>
        <p:nvSpPr>
          <p:cNvPr id="4" name="Rounded Rectangle 3"/>
          <p:cNvSpPr/>
          <p:nvPr/>
        </p:nvSpPr>
        <p:spPr>
          <a:xfrm>
            <a:off x="2476500" y="2149875"/>
            <a:ext cx="2011680" cy="914400"/>
          </a:xfrm>
          <a:prstGeom prst="roundRect">
            <a:avLst/>
          </a:prstGeom>
          <a:solidFill>
            <a:srgbClr val="3377AA"/>
          </a:solidFill>
        </p:spPr>
        <p:style>
          <a:lnRef idx="1">
            <a:schemeClr val="accent1"/>
          </a:lnRef>
          <a:fillRef idx="3">
            <a:schemeClr val="accent1"/>
          </a:fillRef>
          <a:effectRef idx="2">
            <a:schemeClr val="accent1"/>
          </a:effectRef>
          <a:fontRef idx="minor">
            <a:schemeClr val="lt1"/>
          </a:fontRef>
        </p:style>
        <p:txBody>
          <a:bodyPr rtlCol="0" anchor="ctr"/>
          <a:lstStyle/>
          <a:p>
            <a:pPr>
              <a:defRPr>
                <a:solidFill>
                  <a:srgbClr val="FFFFFF"/>
                </a:solidFill>
              </a:defRPr>
            </a:pPr>
            <a:r>
              <a:t>Pre-Scale /</a:t>
            </a:r>
          </a:p>
          <a:p>
            <a:r>
              <a:t>Clamp</a:t>
            </a:r>
          </a:p>
        </p:txBody>
      </p:sp>
      <p:sp>
        <p:nvSpPr>
          <p:cNvPr id="5" name="Rounded Rectangle 4"/>
          <p:cNvSpPr/>
          <p:nvPr/>
        </p:nvSpPr>
        <p:spPr>
          <a:xfrm>
            <a:off x="4671060" y="2564449"/>
            <a:ext cx="2011680" cy="914400"/>
          </a:xfrm>
          <a:prstGeom prst="roundRect">
            <a:avLst/>
          </a:prstGeom>
          <a:solidFill>
            <a:srgbClr val="148F14"/>
          </a:solidFill>
        </p:spPr>
        <p:style>
          <a:lnRef idx="1">
            <a:schemeClr val="accent1"/>
          </a:lnRef>
          <a:fillRef idx="3">
            <a:schemeClr val="accent1"/>
          </a:fillRef>
          <a:effectRef idx="2">
            <a:schemeClr val="accent1"/>
          </a:effectRef>
          <a:fontRef idx="minor">
            <a:schemeClr val="lt1"/>
          </a:fontRef>
        </p:style>
        <p:txBody>
          <a:bodyPr rtlCol="0" anchor="ctr"/>
          <a:lstStyle/>
          <a:p>
            <a:pPr>
              <a:defRPr>
                <a:solidFill>
                  <a:srgbClr val="FFFFFF"/>
                </a:solidFill>
              </a:defRPr>
            </a:pPr>
            <a:r>
              <a:t>MLP 3–7–2</a:t>
            </a:r>
          </a:p>
          <a:p>
            <a:r>
              <a:t>fixed-point</a:t>
            </a:r>
          </a:p>
        </p:txBody>
      </p:sp>
      <p:sp>
        <p:nvSpPr>
          <p:cNvPr id="6" name="Rounded Rectangle 5"/>
          <p:cNvSpPr/>
          <p:nvPr/>
        </p:nvSpPr>
        <p:spPr>
          <a:xfrm>
            <a:off x="6865620" y="3134996"/>
            <a:ext cx="2011680" cy="914400"/>
          </a:xfrm>
          <a:prstGeom prst="roundRect">
            <a:avLst/>
          </a:prstGeom>
          <a:solidFill>
            <a:srgbClr val="9050A0"/>
          </a:solidFill>
        </p:spPr>
        <p:style>
          <a:lnRef idx="1">
            <a:schemeClr val="accent1"/>
          </a:lnRef>
          <a:fillRef idx="3">
            <a:schemeClr val="accent1"/>
          </a:fillRef>
          <a:effectRef idx="2">
            <a:schemeClr val="accent1"/>
          </a:effectRef>
          <a:fontRef idx="minor">
            <a:schemeClr val="lt1"/>
          </a:fontRef>
        </p:style>
        <p:txBody>
          <a:bodyPr rtlCol="0" anchor="ctr"/>
          <a:lstStyle/>
          <a:p>
            <a:pPr>
              <a:defRPr>
                <a:solidFill>
                  <a:srgbClr val="FFFFFF"/>
                </a:solidFill>
              </a:defRPr>
            </a:pPr>
            <a:r>
              <a:t>Sigmoid LUT</a:t>
            </a:r>
          </a:p>
          <a:p>
            <a:r>
              <a:t>ROM 4k×8</a:t>
            </a:r>
          </a:p>
        </p:txBody>
      </p:sp>
      <p:sp>
        <p:nvSpPr>
          <p:cNvPr id="7" name="Rounded Rectangle 6"/>
          <p:cNvSpPr/>
          <p:nvPr/>
        </p:nvSpPr>
        <p:spPr>
          <a:xfrm>
            <a:off x="4715510" y="3880328"/>
            <a:ext cx="2011680" cy="914400"/>
          </a:xfrm>
          <a:prstGeom prst="roundRect">
            <a:avLst/>
          </a:prstGeom>
          <a:solidFill>
            <a:srgbClr val="AA6622"/>
          </a:solidFill>
        </p:spPr>
        <p:style>
          <a:lnRef idx="1">
            <a:schemeClr val="accent1"/>
          </a:lnRef>
          <a:fillRef idx="3">
            <a:schemeClr val="accent1"/>
          </a:fillRef>
          <a:effectRef idx="2">
            <a:schemeClr val="accent1"/>
          </a:effectRef>
          <a:fontRef idx="minor">
            <a:schemeClr val="lt1"/>
          </a:fontRef>
        </p:style>
        <p:txBody>
          <a:bodyPr rtlCol="0" anchor="ctr"/>
          <a:lstStyle/>
          <a:p>
            <a:pPr>
              <a:defRPr>
                <a:solidFill>
                  <a:srgbClr val="FFFFFF"/>
                </a:solidFill>
              </a:defRPr>
            </a:pPr>
            <a:r>
              <a:rPr dirty="0"/>
              <a:t>Classify /</a:t>
            </a:r>
          </a:p>
          <a:p>
            <a:r>
              <a:rPr dirty="0"/>
              <a:t>Overlay</a:t>
            </a:r>
          </a:p>
        </p:txBody>
      </p:sp>
      <p:sp>
        <p:nvSpPr>
          <p:cNvPr id="8" name="Rounded Rectangle 7"/>
          <p:cNvSpPr/>
          <p:nvPr/>
        </p:nvSpPr>
        <p:spPr>
          <a:xfrm>
            <a:off x="2476500" y="4153695"/>
            <a:ext cx="2011680" cy="914400"/>
          </a:xfrm>
          <a:prstGeom prst="roundRect">
            <a:avLst/>
          </a:prstGeom>
          <a:solidFill>
            <a:srgbClr val="555555"/>
          </a:solidFill>
        </p:spPr>
        <p:style>
          <a:lnRef idx="1">
            <a:schemeClr val="accent1"/>
          </a:lnRef>
          <a:fillRef idx="3">
            <a:schemeClr val="accent1"/>
          </a:fillRef>
          <a:effectRef idx="2">
            <a:schemeClr val="accent1"/>
          </a:effectRef>
          <a:fontRef idx="minor">
            <a:schemeClr val="lt1"/>
          </a:fontRef>
        </p:style>
        <p:txBody>
          <a:bodyPr rtlCol="0" anchor="ctr"/>
          <a:lstStyle/>
          <a:p>
            <a:pPr>
              <a:defRPr>
                <a:solidFill>
                  <a:srgbClr val="FFFFFF"/>
                </a:solidFill>
              </a:defRPr>
            </a:pPr>
            <a:r>
              <a:t>Video Tx</a:t>
            </a:r>
          </a:p>
        </p:txBody>
      </p:sp>
      <p:cxnSp>
        <p:nvCxnSpPr>
          <p:cNvPr id="9" name="Connector 8"/>
          <p:cNvCxnSpPr/>
          <p:nvPr/>
        </p:nvCxnSpPr>
        <p:spPr>
          <a:xfrm>
            <a:off x="2560320" y="0"/>
            <a:ext cx="18288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754880" y="0"/>
            <a:ext cx="18288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949440" y="0"/>
            <a:ext cx="18288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18288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1338560" y="0"/>
            <a:ext cx="182880" cy="0"/>
          </a:xfrm>
          <a:prstGeom prst="line">
            <a:avLst/>
          </a:prstGeom>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04140" y="5580380"/>
            <a:ext cx="9222740" cy="646331"/>
          </a:xfrm>
          <a:prstGeom prst="rect">
            <a:avLst/>
          </a:prstGeom>
          <a:noFill/>
        </p:spPr>
        <p:txBody>
          <a:bodyPr wrap="square">
            <a:spAutoFit/>
          </a:bodyPr>
          <a:lstStyle/>
          <a:p>
            <a:r>
              <a:rPr dirty="0"/>
              <a:t>Data path: per-pixel inference at pixel clock. One-cycle ROM latency. Pipelined MACs in neuron array.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RTL Modules (nn_rgb.vhd)</a:t>
            </a:r>
          </a:p>
        </p:txBody>
      </p:sp>
      <p:sp>
        <p:nvSpPr>
          <p:cNvPr id="3" name="Content Placeholder 2"/>
          <p:cNvSpPr>
            <a:spLocks noGrp="1"/>
          </p:cNvSpPr>
          <p:nvPr>
            <p:ph idx="1"/>
          </p:nvPr>
        </p:nvSpPr>
        <p:spPr/>
        <p:txBody>
          <a:bodyPr/>
          <a:lstStyle/>
          <a:p>
            <a:pPr>
              <a:lnSpc>
                <a:spcPct val="200000"/>
              </a:lnSpc>
            </a:pPr>
            <a:r>
              <a:rPr dirty="0" err="1"/>
              <a:t>control.vhd</a:t>
            </a:r>
            <a:r>
              <a:rPr dirty="0"/>
              <a:t>: sync/enable, pipeline alignment</a:t>
            </a:r>
          </a:p>
          <a:p>
            <a:pPr>
              <a:lnSpc>
                <a:spcPct val="200000"/>
              </a:lnSpc>
            </a:pPr>
            <a:r>
              <a:rPr dirty="0" err="1"/>
              <a:t>neuron.vhd</a:t>
            </a:r>
            <a:r>
              <a:rPr dirty="0"/>
              <a:t>: MAC tree per neuron with final bias add</a:t>
            </a:r>
          </a:p>
          <a:p>
            <a:pPr>
              <a:lnSpc>
                <a:spcPct val="200000"/>
              </a:lnSpc>
            </a:pPr>
            <a:r>
              <a:rPr dirty="0" err="1"/>
              <a:t>multiplier.vhd</a:t>
            </a:r>
            <a:r>
              <a:rPr dirty="0"/>
              <a:t>: per-input multiply (inferred DSP)</a:t>
            </a:r>
          </a:p>
          <a:p>
            <a:pPr>
              <a:lnSpc>
                <a:spcPct val="200000"/>
              </a:lnSpc>
            </a:pPr>
            <a:r>
              <a:rPr dirty="0" err="1"/>
              <a:t>sigmoid_IP.vhd</a:t>
            </a:r>
            <a:r>
              <a:rPr dirty="0"/>
              <a:t>: ROM-based LUT (Xilinx </a:t>
            </a:r>
            <a:r>
              <a:rPr lang="en-US" dirty="0"/>
              <a:t>B</a:t>
            </a:r>
            <a:r>
              <a:rPr dirty="0"/>
              <a:t>RAM / Intel M9K)</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6044" y="274409"/>
            <a:ext cx="5937755" cy="1188720"/>
          </a:xfrm>
        </p:spPr>
        <p:txBody>
          <a:bodyPr/>
          <a:lstStyle/>
          <a:p>
            <a:r>
              <a:rPr lang="en-US" dirty="0"/>
              <a:t>The neuron</a:t>
            </a:r>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r="2762" b="66405"/>
          <a:stretch/>
        </p:blipFill>
        <p:spPr>
          <a:xfrm>
            <a:off x="408332" y="1577788"/>
            <a:ext cx="4988422" cy="4682728"/>
          </a:xfrm>
          <a:prstGeom prst="rect">
            <a:avLst/>
          </a:prstGeom>
        </p:spPr>
      </p:pic>
      <p:sp>
        <p:nvSpPr>
          <p:cNvPr id="4" name="TextBox 3"/>
          <p:cNvSpPr txBox="1"/>
          <p:nvPr/>
        </p:nvSpPr>
        <p:spPr>
          <a:xfrm>
            <a:off x="5468471" y="2528047"/>
            <a:ext cx="3191435" cy="2585323"/>
          </a:xfrm>
          <a:prstGeom prst="rect">
            <a:avLst/>
          </a:prstGeom>
          <a:noFill/>
        </p:spPr>
        <p:txBody>
          <a:bodyPr wrap="square" rtlCol="0">
            <a:spAutoFit/>
          </a:bodyPr>
          <a:lstStyle/>
          <a:p>
            <a:r>
              <a:rPr lang="en-US" dirty="0"/>
              <a:t>The neuron takes the X inputs, multiplies them by the corresponding weights, and then adds them all up, including a bias value. </a:t>
            </a:r>
          </a:p>
          <a:p>
            <a:endParaRPr lang="en-US" dirty="0"/>
          </a:p>
          <a:p>
            <a:r>
              <a:rPr lang="en-US" dirty="0"/>
              <a:t>The output goes into the activation function component, which is created as a ROM.</a:t>
            </a:r>
          </a:p>
        </p:txBody>
      </p:sp>
    </p:spTree>
    <p:extLst>
      <p:ext uri="{BB962C8B-B14F-4D97-AF65-F5344CB8AC3E}">
        <p14:creationId xmlns:p14="http://schemas.microsoft.com/office/powerpoint/2010/main" val="29119602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Hardware Platforms</a:t>
            </a:r>
          </a:p>
        </p:txBody>
      </p:sp>
      <p:sp>
        <p:nvSpPr>
          <p:cNvPr id="3" name="Content Placeholder 2"/>
          <p:cNvSpPr>
            <a:spLocks noGrp="1"/>
          </p:cNvSpPr>
          <p:nvPr>
            <p:ph idx="1"/>
          </p:nvPr>
        </p:nvSpPr>
        <p:spPr/>
        <p:txBody>
          <a:bodyPr/>
          <a:lstStyle/>
          <a:p>
            <a:r>
              <a:rPr dirty="0"/>
              <a:t>Xilinx ML501 (Virtex-5): DVI Rx/</a:t>
            </a:r>
            <a:r>
              <a:rPr dirty="0" err="1"/>
              <a:t>Tx</a:t>
            </a:r>
            <a:r>
              <a:rPr dirty="0"/>
              <a:t> available, JTAG/</a:t>
            </a:r>
            <a:r>
              <a:rPr dirty="0" err="1"/>
              <a:t>SystemACE</a:t>
            </a:r>
            <a:r>
              <a:rPr dirty="0"/>
              <a:t> </a:t>
            </a:r>
            <a:r>
              <a:rPr dirty="0" err="1"/>
              <a:t>config</a:t>
            </a:r>
            <a:endParaRPr dirty="0"/>
          </a:p>
          <a:p>
            <a:r>
              <a:rPr dirty="0"/>
              <a:t>Intel Cyclone V path exists (</a:t>
            </a:r>
            <a:r>
              <a:rPr dirty="0" err="1"/>
              <a:t>Quartus</a:t>
            </a:r>
            <a:r>
              <a:rPr dirty="0"/>
              <a:t> 13.0 SP1), no native video Rx</a:t>
            </a:r>
            <a:endParaRPr lang="en-US" dirty="0"/>
          </a:p>
          <a:p>
            <a:r>
              <a:rPr lang="en-US" dirty="0" err="1"/>
              <a:t>Zynq</a:t>
            </a:r>
            <a:r>
              <a:rPr lang="en-US" dirty="0"/>
              <a:t> </a:t>
            </a:r>
            <a:r>
              <a:rPr lang="en-US" dirty="0" err="1"/>
              <a:t>ultrascale</a:t>
            </a:r>
            <a:r>
              <a:rPr lang="en-US" dirty="0"/>
              <a:t> + </a:t>
            </a:r>
            <a:r>
              <a:rPr lang="en-US" dirty="0" err="1"/>
              <a:t>MPSoCs</a:t>
            </a:r>
            <a:r>
              <a:rPr lang="en-US" dirty="0"/>
              <a:t> (only on </a:t>
            </a:r>
            <a:r>
              <a:rPr lang="en-US" dirty="0" err="1"/>
              <a:t>vivado</a:t>
            </a:r>
            <a:r>
              <a:rPr lang="en-US" dirty="0"/>
              <a:t>)</a:t>
            </a:r>
            <a:endParaRPr dirty="0"/>
          </a:p>
          <a:p>
            <a:pPr lvl="1"/>
            <a:r>
              <a:rPr dirty="0"/>
              <a:t>Design is vendor-neutral except sigmoid ROM wrapper</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End-to-end workflow</a:t>
            </a:r>
          </a:p>
        </p:txBody>
      </p:sp>
      <p:sp>
        <p:nvSpPr>
          <p:cNvPr id="3" name="Content Placeholder 2"/>
          <p:cNvSpPr>
            <a:spLocks noGrp="1"/>
          </p:cNvSpPr>
          <p:nvPr>
            <p:ph idx="1"/>
          </p:nvPr>
        </p:nvSpPr>
        <p:spPr>
          <a:xfrm>
            <a:off x="1164532" y="2530469"/>
            <a:ext cx="6820779" cy="3664143"/>
          </a:xfrm>
        </p:spPr>
        <p:txBody>
          <a:bodyPr>
            <a:normAutofit fontScale="77500" lnSpcReduction="20000"/>
          </a:bodyPr>
          <a:lstStyle/>
          <a:p>
            <a:pPr lvl="0"/>
            <a:r>
              <a:rPr lang="en-US" dirty="0"/>
              <a:t>Data and training (Python)</a:t>
            </a:r>
          </a:p>
          <a:p>
            <a:pPr lvl="1"/>
            <a:r>
              <a:rPr lang="en-US" dirty="0"/>
              <a:t>Dataset in </a:t>
            </a:r>
            <a:r>
              <a:rPr lang="en-US" u="sng" dirty="0">
                <a:hlinkClick r:id="rId2"/>
              </a:rPr>
              <a:t>wildfire</a:t>
            </a:r>
            <a:r>
              <a:rPr lang="en-US" dirty="0"/>
              <a:t> (image and mask folders).</a:t>
            </a:r>
          </a:p>
          <a:p>
            <a:pPr lvl="1"/>
            <a:r>
              <a:rPr lang="en-US" dirty="0"/>
              <a:t>Train MLP and produce floating-point weights/biases using </a:t>
            </a:r>
            <a:r>
              <a:rPr lang="en-US" u="sng" dirty="0">
                <a:hlinkClick r:id="rId2"/>
              </a:rPr>
              <a:t>train_mlp.py</a:t>
            </a:r>
            <a:r>
              <a:rPr lang="en-US" dirty="0"/>
              <a:t>.</a:t>
            </a:r>
          </a:p>
          <a:p>
            <a:pPr lvl="1"/>
            <a:r>
              <a:rPr lang="en-US" dirty="0"/>
              <a:t>Quantize to fixed-point and export artifacts using:</a:t>
            </a:r>
          </a:p>
          <a:p>
            <a:pPr lvl="2"/>
            <a:r>
              <a:rPr lang="en-US" u="sng" dirty="0">
                <a:hlinkClick r:id="rId2"/>
              </a:rPr>
              <a:t>export_fixedpoint.py</a:t>
            </a:r>
            <a:r>
              <a:rPr lang="en-US" dirty="0"/>
              <a:t>: converts trained tensors to fixed-point.</a:t>
            </a:r>
          </a:p>
          <a:p>
            <a:pPr lvl="2"/>
            <a:r>
              <a:rPr lang="en-US" u="sng" dirty="0">
                <a:hlinkClick r:id="rId2"/>
              </a:rPr>
              <a:t>gen_sigmoid_lut.py</a:t>
            </a:r>
            <a:r>
              <a:rPr lang="en-US" dirty="0"/>
              <a:t>: generates activation LUT samples.</a:t>
            </a:r>
          </a:p>
          <a:p>
            <a:pPr lvl="2"/>
            <a:r>
              <a:rPr lang="en-US" u="sng" dirty="0">
                <a:hlinkClick r:id="rId2"/>
              </a:rPr>
              <a:t>export_to_xilinx.py</a:t>
            </a:r>
            <a:r>
              <a:rPr lang="en-US" dirty="0"/>
              <a:t>: writes COE and optionally a VHDL package.</a:t>
            </a:r>
          </a:p>
          <a:p>
            <a:pPr lvl="1"/>
            <a:r>
              <a:rPr lang="en-US" dirty="0" err="1"/>
              <a:t>Config</a:t>
            </a:r>
            <a:r>
              <a:rPr lang="en-US" dirty="0"/>
              <a:t> drives sizes/</a:t>
            </a:r>
            <a:r>
              <a:rPr lang="en-US" dirty="0" err="1"/>
              <a:t>bitwidths</a:t>
            </a:r>
            <a:r>
              <a:rPr lang="en-US" dirty="0"/>
              <a:t> via </a:t>
            </a:r>
            <a:r>
              <a:rPr lang="en-US" u="sng" dirty="0" err="1">
                <a:hlinkClick r:id="rId2"/>
              </a:rPr>
              <a:t>config.yaml</a:t>
            </a:r>
            <a:r>
              <a:rPr lang="en-US" dirty="0"/>
              <a:t>.</a:t>
            </a:r>
          </a:p>
          <a:p>
            <a:pPr lvl="1"/>
            <a:r>
              <a:rPr lang="en-US" dirty="0"/>
              <a:t>Outputs:</a:t>
            </a:r>
          </a:p>
          <a:p>
            <a:pPr lvl="2"/>
            <a:r>
              <a:rPr lang="en-US" dirty="0"/>
              <a:t>Fixed-point arrays in </a:t>
            </a:r>
            <a:r>
              <a:rPr lang="en-US" u="sng" dirty="0">
                <a:hlinkClick r:id="rId2"/>
              </a:rPr>
              <a:t>artifacts</a:t>
            </a:r>
            <a:r>
              <a:rPr lang="en-US" dirty="0"/>
              <a:t> and text/COE files in </a:t>
            </a:r>
            <a:r>
              <a:rPr lang="en-US" u="sng" dirty="0" err="1">
                <a:hlinkClick r:id="rId2"/>
              </a:rPr>
              <a:t>coeffs</a:t>
            </a:r>
            <a:r>
              <a:rPr lang="en-US" dirty="0"/>
              <a:t>:</a:t>
            </a:r>
          </a:p>
          <a:p>
            <a:pPr lvl="3"/>
            <a:r>
              <a:rPr lang="en-US" u="sng" dirty="0">
                <a:hlinkClick r:id="rId2"/>
              </a:rPr>
              <a:t>weights_layer1.txt</a:t>
            </a:r>
            <a:r>
              <a:rPr lang="en-US" dirty="0"/>
              <a:t>, </a:t>
            </a:r>
            <a:r>
              <a:rPr lang="en-US" u="sng" dirty="0">
                <a:hlinkClick r:id="rId2"/>
              </a:rPr>
              <a:t>bias_layer1.txt</a:t>
            </a:r>
            <a:endParaRPr lang="en-US" dirty="0"/>
          </a:p>
          <a:p>
            <a:pPr lvl="3"/>
            <a:r>
              <a:rPr lang="en-US" u="sng" dirty="0">
                <a:hlinkClick r:id="rId2"/>
              </a:rPr>
              <a:t>weights_layer2.txt</a:t>
            </a:r>
            <a:r>
              <a:rPr lang="en-US" dirty="0"/>
              <a:t>, </a:t>
            </a:r>
            <a:r>
              <a:rPr lang="en-US" u="sng" dirty="0">
                <a:hlinkClick r:id="rId2"/>
              </a:rPr>
              <a:t>bias_layer2.txt</a:t>
            </a:r>
            <a:endParaRPr lang="en-US" dirty="0"/>
          </a:p>
          <a:p>
            <a:pPr lvl="3"/>
            <a:r>
              <a:rPr lang="en-US" u="sng" dirty="0">
                <a:hlinkClick r:id="rId2"/>
              </a:rPr>
              <a:t>activation_lut.txt</a:t>
            </a:r>
            <a:r>
              <a:rPr lang="en-US" dirty="0"/>
              <a:t> and </a:t>
            </a:r>
            <a:r>
              <a:rPr lang="en-US" u="sng" dirty="0" err="1">
                <a:hlinkClick r:id="rId2"/>
              </a:rPr>
              <a:t>activation_lut.coe</a:t>
            </a:r>
            <a:endParaRPr lang="en-US" dirty="0"/>
          </a:p>
          <a:p>
            <a:endParaRPr lang="en-US" dirty="0"/>
          </a:p>
        </p:txBody>
      </p:sp>
    </p:spTree>
    <p:extLst>
      <p:ext uri="{BB962C8B-B14F-4D97-AF65-F5344CB8AC3E}">
        <p14:creationId xmlns:p14="http://schemas.microsoft.com/office/powerpoint/2010/main" val="15837459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0963" y="522374"/>
            <a:ext cx="8031013" cy="6012897"/>
          </a:xfrm>
        </p:spPr>
        <p:txBody>
          <a:bodyPr>
            <a:normAutofit/>
          </a:bodyPr>
          <a:lstStyle/>
          <a:p>
            <a:pPr lvl="0"/>
            <a:r>
              <a:rPr lang="en-US" sz="1200" dirty="0"/>
              <a:t>Functional validation (Python)</a:t>
            </a:r>
          </a:p>
          <a:p>
            <a:pPr lvl="1"/>
            <a:r>
              <a:rPr lang="en-US" sz="1200" dirty="0"/>
              <a:t>Compare fixed-point inference vs. floating-point using </a:t>
            </a:r>
            <a:r>
              <a:rPr lang="en-US" sz="1200" u="sng" dirty="0">
                <a:hlinkClick r:id="rId2"/>
              </a:rPr>
              <a:t>evaluate_and_plot.py</a:t>
            </a:r>
            <a:r>
              <a:rPr lang="en-US" sz="1200" dirty="0"/>
              <a:t> and test vectors in </a:t>
            </a:r>
            <a:r>
              <a:rPr lang="en-US" sz="1200" u="sng" dirty="0" err="1">
                <a:hlinkClick r:id="rId2"/>
              </a:rPr>
              <a:t>testvectors</a:t>
            </a:r>
            <a:r>
              <a:rPr lang="en-US" sz="1200" dirty="0"/>
              <a:t>.</a:t>
            </a:r>
          </a:p>
          <a:p>
            <a:pPr lvl="0"/>
            <a:r>
              <a:rPr lang="en-US" sz="1200" dirty="0"/>
              <a:t>RTL simulation (</a:t>
            </a:r>
            <a:r>
              <a:rPr lang="en-US" sz="1200" dirty="0" err="1"/>
              <a:t>ModelSim</a:t>
            </a:r>
            <a:r>
              <a:rPr lang="en-US" sz="1200" dirty="0"/>
              <a:t>/Questa)</a:t>
            </a:r>
          </a:p>
          <a:p>
            <a:pPr lvl="1"/>
            <a:r>
              <a:rPr lang="en-US" sz="1200" dirty="0"/>
              <a:t>Project file </a:t>
            </a:r>
            <a:r>
              <a:rPr lang="en-US" sz="1200" u="sng" dirty="0">
                <a:hlinkClick r:id="rId2"/>
              </a:rPr>
              <a:t>sim.mpf</a:t>
            </a:r>
            <a:r>
              <a:rPr lang="en-US" sz="1200" dirty="0"/>
              <a:t> compiles the same VHDL sources used by </a:t>
            </a:r>
            <a:r>
              <a:rPr lang="en-US" sz="1200" dirty="0" err="1"/>
              <a:t>Vivado</a:t>
            </a:r>
            <a:r>
              <a:rPr lang="en-US" sz="1200" dirty="0"/>
              <a:t>. It also contains references to stimulus/response images: </a:t>
            </a:r>
            <a:r>
              <a:rPr lang="en-US" sz="1200" u="sng" dirty="0" err="1">
                <a:hlinkClick r:id="rId2"/>
              </a:rPr>
              <a:t>image_stimuli.ppm</a:t>
            </a:r>
            <a:r>
              <a:rPr lang="en-US" sz="1200" dirty="0"/>
              <a:t>, </a:t>
            </a:r>
            <a:r>
              <a:rPr lang="en-US" sz="1200" u="sng" dirty="0" err="1">
                <a:hlinkClick r:id="rId2"/>
              </a:rPr>
              <a:t>image_response.ppm</a:t>
            </a:r>
            <a:r>
              <a:rPr lang="en-US" sz="1200" dirty="0"/>
              <a:t>.</a:t>
            </a:r>
          </a:p>
          <a:p>
            <a:pPr lvl="0"/>
            <a:r>
              <a:rPr lang="en-US" sz="1200" dirty="0"/>
              <a:t>Synthesis and implementation (</a:t>
            </a:r>
            <a:r>
              <a:rPr lang="en-US" sz="1200" dirty="0" err="1"/>
              <a:t>Vivado</a:t>
            </a:r>
            <a:r>
              <a:rPr lang="en-US" sz="1200" dirty="0"/>
              <a:t> 24.1.2, ZCU106)</a:t>
            </a:r>
          </a:p>
          <a:p>
            <a:endParaRPr lang="en-US" sz="1200" dirty="0"/>
          </a:p>
          <a:p>
            <a:r>
              <a:rPr lang="en-US" sz="1200" dirty="0"/>
              <a:t>Python side (how parameters become hardware-initialized constants)</a:t>
            </a:r>
          </a:p>
          <a:p>
            <a:pPr lvl="0"/>
            <a:r>
              <a:rPr lang="en-US" sz="1200" dirty="0"/>
              <a:t>Sigmoid LUT COE:</a:t>
            </a:r>
          </a:p>
          <a:p>
            <a:pPr lvl="1"/>
            <a:r>
              <a:rPr lang="en-US" sz="1200" u="sng" dirty="0">
                <a:hlinkClick r:id="rId2"/>
              </a:rPr>
              <a:t>export_to_xilinx.py</a:t>
            </a:r>
            <a:r>
              <a:rPr lang="en-US" sz="1200" dirty="0"/>
              <a:t> loads </a:t>
            </a:r>
            <a:r>
              <a:rPr lang="en-US" sz="1200" u="sng" dirty="0">
                <a:hlinkClick r:id="rId2"/>
              </a:rPr>
              <a:t>activation_lut.txt</a:t>
            </a:r>
            <a:r>
              <a:rPr lang="en-US" sz="1200" dirty="0"/>
              <a:t> and emits </a:t>
            </a:r>
            <a:r>
              <a:rPr lang="en-US" sz="1200" u="sng" dirty="0" err="1">
                <a:hlinkClick r:id="rId2"/>
              </a:rPr>
              <a:t>activation_lut.coe</a:t>
            </a:r>
            <a:r>
              <a:rPr lang="en-US" sz="1200" dirty="0"/>
              <a:t> via its local function </a:t>
            </a:r>
            <a:r>
              <a:rPr lang="en-US" sz="1200" dirty="0" err="1"/>
              <a:t>write_coe</a:t>
            </a:r>
            <a:r>
              <a:rPr lang="en-US" sz="1200" dirty="0"/>
              <a:t>(...).</a:t>
            </a:r>
          </a:p>
          <a:p>
            <a:pPr lvl="0"/>
            <a:r>
              <a:rPr lang="en-US" sz="1200" dirty="0"/>
              <a:t>Weights/Biases:</a:t>
            </a:r>
          </a:p>
          <a:p>
            <a:pPr lvl="1"/>
            <a:r>
              <a:rPr lang="en-US" sz="1200" dirty="0"/>
              <a:t>Stored as text files in </a:t>
            </a:r>
            <a:r>
              <a:rPr lang="en-US" sz="1200" u="sng" dirty="0" err="1">
                <a:hlinkClick r:id="rId2"/>
              </a:rPr>
              <a:t>coeffs</a:t>
            </a:r>
            <a:r>
              <a:rPr lang="en-US" sz="1200" dirty="0"/>
              <a:t>. These are typically converted to either a VHDL package with constant arrays or to additional ROM initializations. </a:t>
            </a:r>
          </a:p>
        </p:txBody>
      </p:sp>
    </p:spTree>
    <p:extLst>
      <p:ext uri="{BB962C8B-B14F-4D97-AF65-F5344CB8AC3E}">
        <p14:creationId xmlns:p14="http://schemas.microsoft.com/office/powerpoint/2010/main" val="40035983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VHDL design overview</a:t>
            </a:r>
          </a:p>
        </p:txBody>
      </p:sp>
      <p:sp>
        <p:nvSpPr>
          <p:cNvPr id="3" name="Content Placeholder 2"/>
          <p:cNvSpPr>
            <a:spLocks noGrp="1"/>
          </p:cNvSpPr>
          <p:nvPr>
            <p:ph idx="1"/>
          </p:nvPr>
        </p:nvSpPr>
        <p:spPr/>
        <p:txBody>
          <a:bodyPr>
            <a:normAutofit fontScale="62500" lnSpcReduction="20000"/>
          </a:bodyPr>
          <a:lstStyle/>
          <a:p>
            <a:pPr lvl="0"/>
            <a:r>
              <a:rPr lang="en-US" dirty="0"/>
              <a:t>Source files: </a:t>
            </a:r>
            <a:r>
              <a:rPr lang="en-US" u="sng" dirty="0">
                <a:hlinkClick r:id="rId2"/>
              </a:rPr>
              <a:t>VHDL</a:t>
            </a:r>
            <a:endParaRPr lang="en-US" dirty="0"/>
          </a:p>
          <a:p>
            <a:pPr lvl="1"/>
            <a:r>
              <a:rPr lang="en-US" dirty="0"/>
              <a:t>Top: </a:t>
            </a:r>
            <a:r>
              <a:rPr lang="en-US" u="sng" dirty="0" err="1">
                <a:hlinkClick r:id="rId2"/>
              </a:rPr>
              <a:t>nn_rgb</a:t>
            </a:r>
            <a:endParaRPr lang="en-US" dirty="0"/>
          </a:p>
          <a:p>
            <a:pPr lvl="1"/>
            <a:r>
              <a:rPr lang="en-US" dirty="0"/>
              <a:t>Control FSM: </a:t>
            </a:r>
            <a:r>
              <a:rPr lang="en-US" u="sng" dirty="0">
                <a:hlinkClick r:id="rId2"/>
              </a:rPr>
              <a:t>control</a:t>
            </a:r>
            <a:endParaRPr lang="en-US" dirty="0"/>
          </a:p>
          <a:p>
            <a:pPr lvl="1"/>
            <a:r>
              <a:rPr lang="en-US" dirty="0"/>
              <a:t>Compute blocks: </a:t>
            </a:r>
            <a:r>
              <a:rPr lang="en-US" u="sng" dirty="0">
                <a:hlinkClick r:id="rId2"/>
              </a:rPr>
              <a:t>neuron</a:t>
            </a:r>
            <a:r>
              <a:rPr lang="en-US" dirty="0"/>
              <a:t>, </a:t>
            </a:r>
            <a:r>
              <a:rPr lang="en-US" u="sng" dirty="0">
                <a:hlinkClick r:id="rId2"/>
              </a:rPr>
              <a:t>multiplier</a:t>
            </a:r>
            <a:endParaRPr lang="en-US" dirty="0"/>
          </a:p>
          <a:p>
            <a:pPr lvl="1"/>
            <a:r>
              <a:rPr lang="en-US" dirty="0"/>
              <a:t>Activation: </a:t>
            </a:r>
            <a:r>
              <a:rPr lang="en-US" u="sng" dirty="0" err="1">
                <a:hlinkClick r:id="rId2"/>
              </a:rPr>
              <a:t>sigmoid_IP</a:t>
            </a:r>
            <a:r>
              <a:rPr lang="en-US" dirty="0"/>
              <a:t>, </a:t>
            </a:r>
            <a:r>
              <a:rPr lang="en-US" u="sng" dirty="0" err="1">
                <a:hlinkClick r:id="rId2"/>
              </a:rPr>
              <a:t>sigmoid_lut</a:t>
            </a:r>
            <a:endParaRPr lang="en-US" dirty="0"/>
          </a:p>
          <a:p>
            <a:pPr lvl="1"/>
            <a:r>
              <a:rPr lang="en-US" dirty="0"/>
              <a:t>Configuration/constants: </a:t>
            </a:r>
            <a:r>
              <a:rPr lang="en-US" u="sng" dirty="0" err="1">
                <a:hlinkClick r:id="rId2"/>
              </a:rPr>
              <a:t>config</a:t>
            </a:r>
            <a:endParaRPr lang="en-US" dirty="0"/>
          </a:p>
          <a:p>
            <a:pPr lvl="1"/>
            <a:r>
              <a:rPr lang="en-US" dirty="0"/>
              <a:t>Simulation/test: </a:t>
            </a:r>
            <a:r>
              <a:rPr lang="en-US" u="sng" dirty="0" err="1">
                <a:hlinkClick r:id="rId2"/>
              </a:rPr>
              <a:t>sim_nn_rgb</a:t>
            </a:r>
            <a:r>
              <a:rPr lang="en-US" dirty="0"/>
              <a:t>, </a:t>
            </a:r>
            <a:r>
              <a:rPr lang="en-US" u="sng" dirty="0" err="1">
                <a:hlinkClick r:id="rId2"/>
              </a:rPr>
              <a:t>tb_nn_rgb</a:t>
            </a:r>
            <a:endParaRPr lang="en-US" dirty="0"/>
          </a:p>
          <a:p>
            <a:pPr lvl="0"/>
            <a:r>
              <a:rPr lang="en-US" dirty="0"/>
              <a:t>Data path</a:t>
            </a:r>
          </a:p>
          <a:p>
            <a:pPr lvl="1"/>
            <a:r>
              <a:rPr lang="en-US" dirty="0"/>
              <a:t>Pixels (RGB) or features are ingested by </a:t>
            </a:r>
            <a:r>
              <a:rPr lang="en-US" u="sng" dirty="0" err="1">
                <a:hlinkClick r:id="rId2"/>
              </a:rPr>
              <a:t>nn_rgb</a:t>
            </a:r>
            <a:r>
              <a:rPr lang="en-US" dirty="0"/>
              <a:t>.</a:t>
            </a:r>
          </a:p>
          <a:p>
            <a:pPr lvl="1"/>
            <a:r>
              <a:rPr lang="en-US" dirty="0"/>
              <a:t>Layer 1: parallel MACs using </a:t>
            </a:r>
            <a:r>
              <a:rPr lang="en-US" u="sng" dirty="0">
                <a:hlinkClick r:id="rId2"/>
              </a:rPr>
              <a:t>multiplier</a:t>
            </a:r>
            <a:r>
              <a:rPr lang="en-US" dirty="0"/>
              <a:t> accumulate weighted sums inside </a:t>
            </a:r>
            <a:r>
              <a:rPr lang="en-US" u="sng" dirty="0">
                <a:hlinkClick r:id="rId2"/>
              </a:rPr>
              <a:t>neuron</a:t>
            </a:r>
            <a:r>
              <a:rPr lang="en-US" dirty="0"/>
              <a:t>, add bias, then apply activation via </a:t>
            </a:r>
            <a:r>
              <a:rPr lang="en-US" u="sng" dirty="0" err="1">
                <a:hlinkClick r:id="rId2"/>
              </a:rPr>
              <a:t>sigmoid_IP</a:t>
            </a:r>
            <a:r>
              <a:rPr lang="en-US" dirty="0"/>
              <a:t> which internally uses a ROM </a:t>
            </a:r>
            <a:r>
              <a:rPr lang="en-US" u="sng" dirty="0" err="1">
                <a:hlinkClick r:id="rId2"/>
              </a:rPr>
              <a:t>sigmoid_lut</a:t>
            </a:r>
            <a:r>
              <a:rPr lang="en-US" dirty="0"/>
              <a:t> initialized by </a:t>
            </a:r>
            <a:r>
              <a:rPr lang="en-US" u="sng" dirty="0" err="1">
                <a:hlinkClick r:id="rId2"/>
              </a:rPr>
              <a:t>activation_lut.coe</a:t>
            </a:r>
            <a:r>
              <a:rPr lang="en-US" dirty="0"/>
              <a:t>.</a:t>
            </a:r>
          </a:p>
          <a:p>
            <a:pPr lvl="1"/>
            <a:r>
              <a:rPr lang="en-US" dirty="0"/>
              <a:t>Layer 2: repeats MAC + activation to produce output probability(</a:t>
            </a:r>
            <a:r>
              <a:rPr lang="en-US" dirty="0" err="1"/>
              <a:t>ies</a:t>
            </a:r>
            <a:r>
              <a:rPr lang="en-US" dirty="0"/>
              <a:t>).</a:t>
            </a:r>
          </a:p>
          <a:p>
            <a:pPr lvl="1"/>
            <a:r>
              <a:rPr lang="en-US" u="sng" dirty="0">
                <a:hlinkClick r:id="rId2"/>
              </a:rPr>
              <a:t>control</a:t>
            </a:r>
            <a:r>
              <a:rPr lang="en-US" dirty="0"/>
              <a:t> sequences valid/ready, input loading and layer enable.</a:t>
            </a:r>
          </a:p>
        </p:txBody>
      </p:sp>
    </p:spTree>
    <p:extLst>
      <p:ext uri="{BB962C8B-B14F-4D97-AF65-F5344CB8AC3E}">
        <p14:creationId xmlns:p14="http://schemas.microsoft.com/office/powerpoint/2010/main" val="23288927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6045" y="370332"/>
            <a:ext cx="5937755" cy="1188720"/>
          </a:xfrm>
        </p:spPr>
        <p:txBody>
          <a:bodyPr/>
          <a:lstStyle/>
          <a:p>
            <a:r>
              <a:rPr lang="en-US" dirty="0"/>
              <a:t>file roles and typical interfaces</a:t>
            </a:r>
          </a:p>
        </p:txBody>
      </p:sp>
      <p:sp>
        <p:nvSpPr>
          <p:cNvPr id="3" name="Content Placeholder 2"/>
          <p:cNvSpPr>
            <a:spLocks noGrp="1"/>
          </p:cNvSpPr>
          <p:nvPr>
            <p:ph idx="1"/>
          </p:nvPr>
        </p:nvSpPr>
        <p:spPr>
          <a:xfrm>
            <a:off x="350985" y="1570438"/>
            <a:ext cx="8299955" cy="4345461"/>
          </a:xfrm>
        </p:spPr>
        <p:txBody>
          <a:bodyPr>
            <a:noAutofit/>
          </a:bodyPr>
          <a:lstStyle/>
          <a:p>
            <a:pPr lvl="0"/>
            <a:r>
              <a:rPr lang="en-US" sz="1200" u="sng" dirty="0" err="1">
                <a:hlinkClick r:id="rId2"/>
              </a:rPr>
              <a:t>config</a:t>
            </a:r>
            <a:endParaRPr lang="en-US" sz="1200" dirty="0"/>
          </a:p>
          <a:p>
            <a:pPr lvl="1"/>
            <a:r>
              <a:rPr lang="en-US" sz="1200" dirty="0"/>
              <a:t>Purpose: centralizes generics/constants, e.g., number of inputs/neurons/layers, fixed-point width </a:t>
            </a:r>
            <a:r>
              <a:rPr lang="en-US" sz="1200" i="1" dirty="0" err="1"/>
              <a:t>Qm</a:t>
            </a:r>
            <a:r>
              <a:rPr lang="en-US" sz="1200" dirty="0" err="1"/>
              <a:t>.</a:t>
            </a:r>
            <a:r>
              <a:rPr lang="en-US" sz="1200" i="1" dirty="0" err="1"/>
              <a:t>n</a:t>
            </a:r>
            <a:r>
              <a:rPr lang="en-US" sz="1200" dirty="0"/>
              <a:t>, LUT size, address widths.</a:t>
            </a:r>
          </a:p>
          <a:p>
            <a:pPr lvl="0"/>
            <a:r>
              <a:rPr lang="en-US" sz="1200" u="sng" dirty="0">
                <a:hlinkClick r:id="rId2"/>
              </a:rPr>
              <a:t>multiplier</a:t>
            </a:r>
            <a:endParaRPr lang="en-US" sz="1200" dirty="0"/>
          </a:p>
          <a:p>
            <a:pPr lvl="1"/>
            <a:r>
              <a:rPr lang="en-US" sz="1200" dirty="0"/>
              <a:t>Purpose: fixed-point signed multiply with optional rounding/saturation and a pipeline register to map onto DSP slices in </a:t>
            </a:r>
            <a:r>
              <a:rPr lang="en-US" sz="1200" dirty="0" err="1"/>
              <a:t>UltraScale</a:t>
            </a:r>
            <a:r>
              <a:rPr lang="en-US" sz="1200" dirty="0"/>
              <a:t>+.</a:t>
            </a:r>
          </a:p>
          <a:p>
            <a:pPr lvl="1"/>
            <a:r>
              <a:rPr lang="en-US" sz="1200" dirty="0"/>
              <a:t>Role: building block for MAC inside a neuron.</a:t>
            </a:r>
          </a:p>
          <a:p>
            <a:pPr lvl="0"/>
            <a:r>
              <a:rPr lang="en-US" sz="1200" u="sng" dirty="0">
                <a:hlinkClick r:id="rId2"/>
              </a:rPr>
              <a:t>neuron</a:t>
            </a:r>
            <a:endParaRPr lang="en-US" sz="1200" dirty="0"/>
          </a:p>
          <a:p>
            <a:pPr lvl="1"/>
            <a:r>
              <a:rPr lang="en-US" sz="1200" dirty="0"/>
              <a:t>Purpose: compute y=σ(∑</a:t>
            </a:r>
            <a:r>
              <a:rPr lang="en-US" sz="1200" dirty="0" err="1"/>
              <a:t>iwixi+b</a:t>
            </a:r>
            <a:r>
              <a:rPr lang="en-US" sz="1200" dirty="0"/>
              <a:t>)</a:t>
            </a:r>
            <a:r>
              <a:rPr lang="en-US" sz="1200" i="1" dirty="0"/>
              <a:t>y</a:t>
            </a:r>
            <a:r>
              <a:rPr lang="en-US" sz="1200" dirty="0"/>
              <a:t>=</a:t>
            </a:r>
            <a:r>
              <a:rPr lang="en-US" sz="1200" i="1" dirty="0"/>
              <a:t>σ</a:t>
            </a:r>
            <a:r>
              <a:rPr lang="en-US" sz="1200" dirty="0"/>
              <a:t>(∑</a:t>
            </a:r>
            <a:r>
              <a:rPr lang="en-US" sz="1200" i="1" dirty="0" err="1"/>
              <a:t>i</a:t>
            </a:r>
            <a:r>
              <a:rPr lang="en-US" sz="1200" dirty="0"/>
              <a:t>​</a:t>
            </a:r>
            <a:r>
              <a:rPr lang="en-US" sz="1200" i="1" dirty="0" err="1"/>
              <a:t>wi</a:t>
            </a:r>
            <a:r>
              <a:rPr lang="en-US" sz="1200" dirty="0"/>
              <a:t>​</a:t>
            </a:r>
            <a:r>
              <a:rPr lang="en-US" sz="1200" i="1" dirty="0"/>
              <a:t>xi</a:t>
            </a:r>
            <a:r>
              <a:rPr lang="en-US" sz="1200" dirty="0"/>
              <a:t>​+</a:t>
            </a:r>
            <a:r>
              <a:rPr lang="en-US" sz="1200" i="1" dirty="0"/>
              <a:t>b</a:t>
            </a:r>
            <a:r>
              <a:rPr lang="en-US" sz="1200" dirty="0"/>
              <a:t>) in fixed-point.</a:t>
            </a:r>
          </a:p>
          <a:p>
            <a:pPr lvl="1"/>
            <a:r>
              <a:rPr lang="en-US" sz="1200" dirty="0"/>
              <a:t>Internals:</a:t>
            </a:r>
          </a:p>
          <a:p>
            <a:pPr lvl="2"/>
            <a:r>
              <a:rPr lang="en-US" sz="1200" dirty="0"/>
              <a:t>A generate loop of </a:t>
            </a:r>
            <a:r>
              <a:rPr lang="en-US" sz="1200" u="sng" dirty="0">
                <a:hlinkClick r:id="rId2"/>
              </a:rPr>
              <a:t>multiplier</a:t>
            </a:r>
            <a:r>
              <a:rPr lang="en-US" sz="1200" dirty="0"/>
              <a:t> instances for </a:t>
            </a:r>
            <a:r>
              <a:rPr lang="en-US" sz="1200" dirty="0" err="1"/>
              <a:t>wi</a:t>
            </a:r>
            <a:r>
              <a:rPr lang="en-US" sz="1200" dirty="0"/>
              <a:t>*xi​.</a:t>
            </a:r>
          </a:p>
          <a:p>
            <a:pPr lvl="2"/>
            <a:r>
              <a:rPr lang="en-US" sz="1200" dirty="0"/>
              <a:t>An adder tree/accumulator to sum products.</a:t>
            </a:r>
          </a:p>
          <a:p>
            <a:pPr lvl="2"/>
            <a:r>
              <a:rPr lang="en-US" sz="1200" dirty="0"/>
              <a:t>Bias add, optional saturation, and handoff to activation.</a:t>
            </a:r>
          </a:p>
          <a:p>
            <a:pPr lvl="1"/>
            <a:r>
              <a:rPr lang="en-US" sz="1200" dirty="0"/>
              <a:t>Interfaces: vector input, weight/bias inputs (from constants or ROM), valid/ready or start/done signals.</a:t>
            </a:r>
          </a:p>
        </p:txBody>
      </p:sp>
    </p:spTree>
    <p:extLst>
      <p:ext uri="{BB962C8B-B14F-4D97-AF65-F5344CB8AC3E}">
        <p14:creationId xmlns:p14="http://schemas.microsoft.com/office/powerpoint/2010/main" val="28549341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45433" y="540304"/>
            <a:ext cx="7869649" cy="5654308"/>
          </a:xfrm>
        </p:spPr>
        <p:txBody>
          <a:bodyPr>
            <a:normAutofit fontScale="77500" lnSpcReduction="20000"/>
          </a:bodyPr>
          <a:lstStyle/>
          <a:p>
            <a:pPr lvl="0"/>
            <a:r>
              <a:rPr lang="en-US" u="sng" dirty="0" err="1">
                <a:hlinkClick r:id="rId2"/>
              </a:rPr>
              <a:t>sigmoid_IP</a:t>
            </a:r>
            <a:endParaRPr lang="en-US" dirty="0"/>
          </a:p>
          <a:p>
            <a:pPr lvl="1"/>
            <a:r>
              <a:rPr lang="en-US" dirty="0"/>
              <a:t>Purpose: activation function via lookup. Converts fixed-point input to LUT address, reads from BRAM/ROM.</a:t>
            </a:r>
          </a:p>
          <a:p>
            <a:pPr lvl="1"/>
            <a:r>
              <a:rPr lang="en-US" dirty="0"/>
              <a:t>Internals: address scaling/clamping + instance of </a:t>
            </a:r>
            <a:r>
              <a:rPr lang="en-US" u="sng" dirty="0" err="1">
                <a:hlinkClick r:id="rId2"/>
              </a:rPr>
              <a:t>sigmoid_lut</a:t>
            </a:r>
            <a:r>
              <a:rPr lang="en-US" dirty="0"/>
              <a:t> whose INIT is driven by </a:t>
            </a:r>
            <a:r>
              <a:rPr lang="en-US" u="sng" dirty="0" err="1">
                <a:hlinkClick r:id="rId2"/>
              </a:rPr>
              <a:t>activation_lut.coe</a:t>
            </a:r>
            <a:r>
              <a:rPr lang="en-US" dirty="0"/>
              <a:t>.</a:t>
            </a:r>
          </a:p>
          <a:p>
            <a:pPr lvl="0"/>
            <a:r>
              <a:rPr lang="en-US" u="sng" dirty="0" err="1">
                <a:hlinkClick r:id="rId2"/>
              </a:rPr>
              <a:t>sigmoid_lut</a:t>
            </a:r>
            <a:endParaRPr lang="en-US" dirty="0"/>
          </a:p>
          <a:p>
            <a:pPr lvl="1"/>
            <a:r>
              <a:rPr lang="en-US" dirty="0"/>
              <a:t>Purpose: the ROM primitive or inferred ROM for the LUT samples.</a:t>
            </a:r>
          </a:p>
          <a:p>
            <a:pPr lvl="1"/>
            <a:r>
              <a:rPr lang="en-US" dirty="0"/>
              <a:t>Note: synthesized into BRAM on </a:t>
            </a:r>
            <a:r>
              <a:rPr lang="en-US" dirty="0" err="1"/>
              <a:t>Zynq</a:t>
            </a:r>
            <a:r>
              <a:rPr lang="en-US" dirty="0"/>
              <a:t> </a:t>
            </a:r>
            <a:r>
              <a:rPr lang="en-US" dirty="0" err="1"/>
              <a:t>UltraScale</a:t>
            </a:r>
            <a:r>
              <a:rPr lang="en-US" dirty="0"/>
              <a:t>+ with COE </a:t>
            </a:r>
            <a:r>
              <a:rPr lang="en-US" dirty="0" err="1"/>
              <a:t>init.</a:t>
            </a:r>
            <a:endParaRPr lang="en-US" dirty="0"/>
          </a:p>
          <a:p>
            <a:pPr lvl="0"/>
            <a:r>
              <a:rPr lang="en-US" u="sng" dirty="0">
                <a:hlinkClick r:id="rId2"/>
              </a:rPr>
              <a:t>control</a:t>
            </a:r>
            <a:endParaRPr lang="en-US" dirty="0"/>
          </a:p>
          <a:p>
            <a:pPr lvl="1"/>
            <a:r>
              <a:rPr lang="en-US" dirty="0"/>
              <a:t>Purpose: FSM for sequencing the NN:</a:t>
            </a:r>
          </a:p>
          <a:p>
            <a:pPr lvl="2"/>
            <a:r>
              <a:rPr lang="en-US" dirty="0"/>
              <a:t>Load inputs for layer 1</a:t>
            </a:r>
          </a:p>
          <a:p>
            <a:pPr lvl="2"/>
            <a:r>
              <a:rPr lang="en-US" dirty="0"/>
              <a:t>Start MACs, wait for activation latency</a:t>
            </a:r>
          </a:p>
          <a:p>
            <a:pPr lvl="2"/>
            <a:r>
              <a:rPr lang="en-US" dirty="0"/>
              <a:t>Feed layer 2</a:t>
            </a:r>
          </a:p>
          <a:p>
            <a:pPr lvl="2"/>
            <a:r>
              <a:rPr lang="en-US" dirty="0"/>
              <a:t>Output valid flag and result</a:t>
            </a:r>
          </a:p>
          <a:p>
            <a:pPr lvl="1"/>
            <a:r>
              <a:rPr lang="en-US" dirty="0"/>
              <a:t>Interfaces: clock/reset, input stream (pixels or features), start/valid/ready, and status outputs.</a:t>
            </a:r>
          </a:p>
          <a:p>
            <a:pPr lvl="0"/>
            <a:r>
              <a:rPr lang="en-US" u="sng" dirty="0" err="1">
                <a:hlinkClick r:id="rId2"/>
              </a:rPr>
              <a:t>nn_rgb</a:t>
            </a:r>
            <a:endParaRPr lang="en-US" dirty="0"/>
          </a:p>
          <a:p>
            <a:pPr lvl="1"/>
            <a:r>
              <a:rPr lang="en-US" dirty="0"/>
              <a:t>Purpose: top-level; instantiates control + arrays of neurons for each layer + sigmoid IP; wires constants from </a:t>
            </a:r>
            <a:r>
              <a:rPr lang="en-US" u="sng" dirty="0" err="1">
                <a:hlinkClick r:id="rId2"/>
              </a:rPr>
              <a:t>config</a:t>
            </a:r>
            <a:r>
              <a:rPr lang="en-US" dirty="0"/>
              <a:t>; exposes the top I/O.</a:t>
            </a:r>
          </a:p>
          <a:p>
            <a:pPr lvl="1"/>
            <a:r>
              <a:rPr lang="en-US" dirty="0"/>
              <a:t>Role: integration point used as the synthesis top in </a:t>
            </a:r>
            <a:r>
              <a:rPr lang="en-US" dirty="0" err="1"/>
              <a:t>Vivado</a:t>
            </a:r>
            <a:r>
              <a:rPr lang="en-US" dirty="0"/>
              <a:t> TCL scripts.</a:t>
            </a:r>
          </a:p>
          <a:p>
            <a:pPr lvl="0"/>
            <a:r>
              <a:rPr lang="en-US" dirty="0" err="1"/>
              <a:t>Testbenches</a:t>
            </a:r>
            <a:endParaRPr lang="en-US" dirty="0"/>
          </a:p>
          <a:p>
            <a:pPr lvl="1"/>
            <a:r>
              <a:rPr lang="en-US" u="sng" dirty="0" err="1">
                <a:hlinkClick r:id="rId2"/>
              </a:rPr>
              <a:t>sim_nn_rgb</a:t>
            </a:r>
            <a:r>
              <a:rPr lang="en-US" dirty="0"/>
              <a:t>, </a:t>
            </a:r>
            <a:r>
              <a:rPr lang="en-US" u="sng" dirty="0" err="1">
                <a:hlinkClick r:id="rId2"/>
              </a:rPr>
              <a:t>tb_nn_rgb</a:t>
            </a:r>
            <a:r>
              <a:rPr lang="en-US" dirty="0"/>
              <a:t> read </a:t>
            </a:r>
            <a:r>
              <a:rPr lang="en-US" u="sng" dirty="0" err="1">
                <a:hlinkClick r:id="rId2"/>
              </a:rPr>
              <a:t>image_stimuli.ppm</a:t>
            </a:r>
            <a:r>
              <a:rPr lang="en-US" dirty="0"/>
              <a:t> and compare to </a:t>
            </a:r>
            <a:r>
              <a:rPr lang="en-US" u="sng" dirty="0" err="1">
                <a:hlinkClick r:id="rId2"/>
              </a:rPr>
              <a:t>image_response.ppm</a:t>
            </a:r>
            <a:r>
              <a:rPr lang="en-US" dirty="0"/>
              <a:t> or golden vectors in </a:t>
            </a:r>
            <a:r>
              <a:rPr lang="en-US" u="sng" dirty="0" err="1">
                <a:hlinkClick r:id="rId2"/>
              </a:rPr>
              <a:t>testvectors</a:t>
            </a:r>
            <a:r>
              <a:rPr lang="en-US" dirty="0"/>
              <a:t>.</a:t>
            </a:r>
          </a:p>
          <a:p>
            <a:endParaRPr lang="en-US" dirty="0"/>
          </a:p>
        </p:txBody>
      </p:sp>
    </p:spTree>
    <p:extLst>
      <p:ext uri="{BB962C8B-B14F-4D97-AF65-F5344CB8AC3E}">
        <p14:creationId xmlns:p14="http://schemas.microsoft.com/office/powerpoint/2010/main" val="20057729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Data path</a:t>
            </a:r>
          </a:p>
        </p:txBody>
      </p:sp>
      <p:sp>
        <p:nvSpPr>
          <p:cNvPr id="3" name="Content Placeholder 2"/>
          <p:cNvSpPr>
            <a:spLocks noGrp="1"/>
          </p:cNvSpPr>
          <p:nvPr>
            <p:ph idx="1"/>
          </p:nvPr>
        </p:nvSpPr>
        <p:spPr>
          <a:xfrm>
            <a:off x="610962" y="2449786"/>
            <a:ext cx="8192379" cy="4219955"/>
          </a:xfrm>
        </p:spPr>
        <p:txBody>
          <a:bodyPr>
            <a:normAutofit fontScale="70000" lnSpcReduction="20000"/>
          </a:bodyPr>
          <a:lstStyle/>
          <a:p>
            <a:r>
              <a:rPr lang="en-US" dirty="0"/>
              <a:t>Ingress (per clock):</a:t>
            </a:r>
          </a:p>
          <a:p>
            <a:r>
              <a:rPr lang="en-US" dirty="0"/>
              <a:t>Top entity </a:t>
            </a:r>
            <a:r>
              <a:rPr lang="en-US" dirty="0" err="1"/>
              <a:t>nn_rgb</a:t>
            </a:r>
            <a:r>
              <a:rPr lang="en-US" dirty="0"/>
              <a:t> exposes video ports:</a:t>
            </a:r>
          </a:p>
          <a:p>
            <a:r>
              <a:rPr lang="en-US" dirty="0"/>
              <a:t>Inputs: </a:t>
            </a:r>
            <a:r>
              <a:rPr lang="en-US" dirty="0" err="1"/>
              <a:t>vs_in</a:t>
            </a:r>
            <a:r>
              <a:rPr lang="en-US" dirty="0"/>
              <a:t>, </a:t>
            </a:r>
            <a:r>
              <a:rPr lang="en-US" dirty="0" err="1"/>
              <a:t>hs_in</a:t>
            </a:r>
            <a:r>
              <a:rPr lang="en-US" dirty="0"/>
              <a:t>, </a:t>
            </a:r>
            <a:r>
              <a:rPr lang="en-US" dirty="0" err="1"/>
              <a:t>de_in</a:t>
            </a:r>
            <a:r>
              <a:rPr lang="en-US" dirty="0"/>
              <a:t>, </a:t>
            </a:r>
            <a:r>
              <a:rPr lang="en-US" dirty="0" err="1"/>
              <a:t>r_in</a:t>
            </a:r>
            <a:r>
              <a:rPr lang="en-US" dirty="0"/>
              <a:t>[7:0], </a:t>
            </a:r>
            <a:r>
              <a:rPr lang="en-US" dirty="0" err="1"/>
              <a:t>g_in</a:t>
            </a:r>
            <a:r>
              <a:rPr lang="en-US" dirty="0"/>
              <a:t>[7:0], </a:t>
            </a:r>
            <a:r>
              <a:rPr lang="en-US" dirty="0" err="1"/>
              <a:t>b_in</a:t>
            </a:r>
            <a:r>
              <a:rPr lang="en-US" dirty="0"/>
              <a:t>[7:0]</a:t>
            </a:r>
          </a:p>
          <a:p>
            <a:r>
              <a:rPr lang="en-US" dirty="0"/>
              <a:t>Outputs: </a:t>
            </a:r>
            <a:r>
              <a:rPr lang="en-US" dirty="0" err="1"/>
              <a:t>vs_out</a:t>
            </a:r>
            <a:r>
              <a:rPr lang="en-US" dirty="0"/>
              <a:t>, </a:t>
            </a:r>
            <a:r>
              <a:rPr lang="en-US" dirty="0" err="1"/>
              <a:t>hs_out</a:t>
            </a:r>
            <a:r>
              <a:rPr lang="en-US" dirty="0"/>
              <a:t>, </a:t>
            </a:r>
            <a:r>
              <a:rPr lang="en-US" dirty="0" err="1"/>
              <a:t>de_out</a:t>
            </a:r>
            <a:r>
              <a:rPr lang="en-US" dirty="0"/>
              <a:t>, </a:t>
            </a:r>
            <a:r>
              <a:rPr lang="en-US" dirty="0" err="1"/>
              <a:t>r_out</a:t>
            </a:r>
            <a:r>
              <a:rPr lang="en-US" dirty="0"/>
              <a:t>[7:0], </a:t>
            </a:r>
            <a:r>
              <a:rPr lang="en-US" dirty="0" err="1"/>
              <a:t>g_out</a:t>
            </a:r>
            <a:r>
              <a:rPr lang="en-US" dirty="0"/>
              <a:t>[7:0], </a:t>
            </a:r>
            <a:r>
              <a:rPr lang="en-US" dirty="0" err="1"/>
              <a:t>b_out</a:t>
            </a:r>
            <a:r>
              <a:rPr lang="en-US" dirty="0"/>
              <a:t>[7:0]</a:t>
            </a:r>
          </a:p>
          <a:p>
            <a:r>
              <a:rPr lang="en-US" dirty="0"/>
              <a:t>On each </a:t>
            </a:r>
            <a:r>
              <a:rPr lang="en-US" dirty="0" err="1"/>
              <a:t>clk</a:t>
            </a:r>
            <a:r>
              <a:rPr lang="en-US" dirty="0"/>
              <a:t>, when </a:t>
            </a:r>
            <a:r>
              <a:rPr lang="en-US" dirty="0" err="1"/>
              <a:t>de_in</a:t>
            </a:r>
            <a:r>
              <a:rPr lang="en-US" dirty="0"/>
              <a:t> = '1', the 8‑bit </a:t>
            </a:r>
            <a:r>
              <a:rPr lang="en-US" dirty="0" err="1"/>
              <a:t>r_in</a:t>
            </a:r>
            <a:r>
              <a:rPr lang="en-US" dirty="0"/>
              <a:t>/</a:t>
            </a:r>
            <a:r>
              <a:rPr lang="en-US" dirty="0" err="1"/>
              <a:t>g_in</a:t>
            </a:r>
            <a:r>
              <a:rPr lang="en-US" dirty="0"/>
              <a:t>/</a:t>
            </a:r>
            <a:r>
              <a:rPr lang="en-US" dirty="0" err="1"/>
              <a:t>b_in</a:t>
            </a:r>
            <a:r>
              <a:rPr lang="en-US" dirty="0"/>
              <a:t> samples are registered and forwarded as the feature inputs to the first layer MACs.</a:t>
            </a:r>
          </a:p>
          <a:p>
            <a:r>
              <a:rPr lang="en-US" dirty="0"/>
              <a:t>Control/timing alignment:</a:t>
            </a:r>
          </a:p>
          <a:p>
            <a:r>
              <a:rPr lang="en-US" dirty="0"/>
              <a:t>The controller gates “pixel valid” into the compute path and delays vs/</a:t>
            </a:r>
            <a:r>
              <a:rPr lang="en-US" dirty="0" err="1"/>
              <a:t>hs</a:t>
            </a:r>
            <a:r>
              <a:rPr lang="en-US" dirty="0"/>
              <a:t>/de to align with the NN latency, so output timing matches the corresponding processed pixel. The synth log shows a latency parameter bound to 9 cycles (see </a:t>
            </a:r>
            <a:r>
              <a:rPr lang="en-US" dirty="0" err="1"/>
              <a:t>nn_rgb.vds</a:t>
            </a:r>
            <a:r>
              <a:rPr lang="en-US" dirty="0"/>
              <a:t>, “Parameter delay bound to: 9”).</a:t>
            </a:r>
          </a:p>
          <a:p>
            <a:r>
              <a:rPr lang="en-US" dirty="0"/>
              <a:t>Compute:</a:t>
            </a:r>
          </a:p>
          <a:p>
            <a:r>
              <a:rPr lang="en-US" dirty="0"/>
              <a:t>Layer MACs multiply each incoming feature by fixed weights using the multiplier, sum inside the neuron, add bias, then apply activation in </a:t>
            </a:r>
            <a:r>
              <a:rPr lang="en-US" dirty="0" err="1"/>
              <a:t>sigmoid_IP</a:t>
            </a:r>
            <a:r>
              <a:rPr lang="en-US" dirty="0"/>
              <a:t>, which reads the LUT ROM </a:t>
            </a:r>
            <a:r>
              <a:rPr lang="en-US" dirty="0" err="1"/>
              <a:t>sigmoid_lut</a:t>
            </a:r>
            <a:r>
              <a:rPr lang="en-US" dirty="0"/>
              <a:t> initialized by </a:t>
            </a:r>
            <a:r>
              <a:rPr lang="en-US" dirty="0" err="1"/>
              <a:t>activation_lut.coe</a:t>
            </a:r>
            <a:r>
              <a:rPr lang="en-US" dirty="0"/>
              <a:t>.</a:t>
            </a:r>
          </a:p>
          <a:p>
            <a:r>
              <a:rPr lang="en-US" dirty="0"/>
              <a:t>Fixed‑point scaling follows the project’s </a:t>
            </a:r>
          </a:p>
          <a:p>
            <a:r>
              <a:rPr lang="en-US" dirty="0" err="1"/>
              <a:t>Qm.n</a:t>
            </a:r>
            <a:r>
              <a:rPr lang="en-US" dirty="0"/>
              <a:t> settings from </a:t>
            </a:r>
            <a:r>
              <a:rPr lang="en-US" dirty="0" err="1"/>
              <a:t>config</a:t>
            </a:r>
            <a:r>
              <a:rPr lang="en-US" dirty="0"/>
              <a:t> (inputs are interpreted in that format; arithmetic is scaled by </a:t>
            </a:r>
          </a:p>
          <a:p>
            <a:r>
              <a:rPr lang="en-US" dirty="0"/>
              <a:t>The NN result is mapped to </a:t>
            </a:r>
            <a:r>
              <a:rPr lang="en-US" dirty="0" err="1"/>
              <a:t>r_out</a:t>
            </a:r>
            <a:r>
              <a:rPr lang="en-US" dirty="0"/>
              <a:t>/</a:t>
            </a:r>
            <a:r>
              <a:rPr lang="en-US" dirty="0" err="1"/>
              <a:t>g_out</a:t>
            </a:r>
            <a:r>
              <a:rPr lang="en-US" dirty="0"/>
              <a:t>/</a:t>
            </a:r>
            <a:r>
              <a:rPr lang="en-US" dirty="0" err="1"/>
              <a:t>b_out</a:t>
            </a:r>
            <a:r>
              <a:rPr lang="en-US" dirty="0"/>
              <a:t> (and </a:t>
            </a:r>
            <a:r>
              <a:rPr lang="en-US" dirty="0" err="1"/>
              <a:t>de_out</a:t>
            </a:r>
            <a:r>
              <a:rPr lang="en-US" dirty="0"/>
              <a:t>/</a:t>
            </a:r>
            <a:r>
              <a:rPr lang="en-US" dirty="0" err="1"/>
              <a:t>hs_out</a:t>
            </a:r>
            <a:r>
              <a:rPr lang="en-US" dirty="0"/>
              <a:t>/</a:t>
            </a:r>
            <a:r>
              <a:rPr lang="en-US" dirty="0" err="1"/>
              <a:t>vs_out</a:t>
            </a:r>
            <a:r>
              <a:rPr lang="en-US" dirty="0"/>
              <a:t> are the delayed timing), ready for downstream video.</a:t>
            </a:r>
          </a:p>
        </p:txBody>
      </p:sp>
    </p:spTree>
    <p:extLst>
      <p:ext uri="{BB962C8B-B14F-4D97-AF65-F5344CB8AC3E}">
        <p14:creationId xmlns:p14="http://schemas.microsoft.com/office/powerpoint/2010/main" val="31119611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6045" y="271163"/>
            <a:ext cx="5937755" cy="1188720"/>
          </a:xfrm>
        </p:spPr>
        <p:txBody>
          <a:bodyPr/>
          <a:lstStyle/>
          <a:p>
            <a:r>
              <a:rPr dirty="0"/>
              <a:t>Resource and Timing</a:t>
            </a:r>
          </a:p>
        </p:txBody>
      </p:sp>
      <p:pic>
        <p:nvPicPr>
          <p:cNvPr id="6" name="Content Placeholder 5"/>
          <p:cNvPicPr>
            <a:picLocks noGrp="1" noChangeAspect="1"/>
          </p:cNvPicPr>
          <p:nvPr>
            <p:ph idx="1"/>
          </p:nvPr>
        </p:nvPicPr>
        <p:blipFill rotWithShape="1">
          <a:blip r:embed="rId2">
            <a:extLst>
              <a:ext uri="{28A0092B-C50C-407E-A947-70E740481C1C}">
                <a14:useLocalDpi xmlns:a14="http://schemas.microsoft.com/office/drawing/2010/main" val="0"/>
              </a:ext>
            </a:extLst>
          </a:blip>
          <a:srcRect l="23427" r="45477"/>
          <a:stretch/>
        </p:blipFill>
        <p:spPr>
          <a:xfrm>
            <a:off x="0" y="4385052"/>
            <a:ext cx="4435008" cy="678267"/>
          </a:xfrm>
        </p:spPr>
      </p:pic>
      <p:pic>
        <p:nvPicPr>
          <p:cNvPr id="8" name="Picture 7"/>
          <p:cNvPicPr>
            <a:picLocks noChangeAspect="1"/>
          </p:cNvPicPr>
          <p:nvPr/>
        </p:nvPicPr>
        <p:blipFill rotWithShape="1">
          <a:blip r:embed="rId3">
            <a:extLst>
              <a:ext uri="{28A0092B-C50C-407E-A947-70E740481C1C}">
                <a14:useLocalDpi xmlns:a14="http://schemas.microsoft.com/office/drawing/2010/main" val="0"/>
              </a:ext>
            </a:extLst>
          </a:blip>
          <a:srcRect l="13236" t="40344" r="37548" b="21940"/>
          <a:stretch/>
        </p:blipFill>
        <p:spPr>
          <a:xfrm>
            <a:off x="0" y="1459883"/>
            <a:ext cx="6691880" cy="2906036"/>
          </a:xfrm>
          <a:prstGeom prst="rect">
            <a:avLst/>
          </a:prstGeom>
        </p:spPr>
      </p:pic>
      <p:pic>
        <p:nvPicPr>
          <p:cNvPr id="3" name="Picture 2"/>
          <p:cNvPicPr>
            <a:picLocks noChangeAspect="1"/>
          </p:cNvPicPr>
          <p:nvPr/>
        </p:nvPicPr>
        <p:blipFill rotWithShape="1">
          <a:blip r:embed="rId4">
            <a:extLst>
              <a:ext uri="{28A0092B-C50C-407E-A947-70E740481C1C}">
                <a14:useLocalDpi xmlns:a14="http://schemas.microsoft.com/office/drawing/2010/main" val="0"/>
              </a:ext>
            </a:extLst>
          </a:blip>
          <a:srcRect l="13137" t="39506" r="50294" b="45577"/>
          <a:stretch/>
        </p:blipFill>
        <p:spPr>
          <a:xfrm>
            <a:off x="0" y="5063319"/>
            <a:ext cx="5987789" cy="1380565"/>
          </a:xfrm>
          <a:prstGeom prst="rect">
            <a:avLst/>
          </a:prstGeom>
        </p:spPr>
      </p:pic>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73235" t="1" r="11667" b="-6693"/>
          <a:stretch/>
        </p:blipFill>
        <p:spPr>
          <a:xfrm>
            <a:off x="4435008" y="3856058"/>
            <a:ext cx="3779069" cy="1270014"/>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Limitations and Future Work</a:t>
            </a:r>
          </a:p>
        </p:txBody>
      </p:sp>
      <p:sp>
        <p:nvSpPr>
          <p:cNvPr id="3" name="Content Placeholder 2"/>
          <p:cNvSpPr>
            <a:spLocks noGrp="1"/>
          </p:cNvSpPr>
          <p:nvPr>
            <p:ph idx="1"/>
          </p:nvPr>
        </p:nvSpPr>
        <p:spPr/>
        <p:txBody>
          <a:bodyPr/>
          <a:lstStyle/>
          <a:p>
            <a:r>
              <a:rPr lang="en-US" dirty="0"/>
              <a:t>Training and inference on a single device without software is limited, despite the flexibility and inheritance of parallelism on FPGAs. The backpropagation modules and data chain can be implemented in terms of area and resource usage.</a:t>
            </a:r>
          </a:p>
          <a:p>
            <a:r>
              <a:rPr lang="en-US" dirty="0"/>
              <a:t>Additionally, even though pattern recognition is effective, more work is required to expand the architecture or add convolution layers. Decision-making and feature selection might benefit from greater research since more variables can address issues in real time during a wildfire.</a:t>
            </a:r>
            <a:endParaRPr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a:xfrm>
            <a:off x="1352791" y="2548398"/>
            <a:ext cx="6444261" cy="3816543"/>
          </a:xfrm>
        </p:spPr>
        <p:txBody>
          <a:bodyPr>
            <a:normAutofit/>
          </a:bodyPr>
          <a:lstStyle/>
          <a:p>
            <a:r>
              <a:rPr lang="en-US" dirty="0"/>
              <a:t>This project's goal was to create a VHDL model of an artificial neural network for the purpose of determining the system's functions and creating modules to carry them out comprised the initial work. </a:t>
            </a:r>
          </a:p>
          <a:p>
            <a:r>
              <a:rPr lang="en-US" dirty="0"/>
              <a:t>The modules' timing behavior and functioning were properly confirmed. Additionally, the model was developed using VHDL for inference and Python programming for training.</a:t>
            </a:r>
          </a:p>
          <a:p>
            <a:r>
              <a:rPr lang="en-US" dirty="0"/>
              <a:t>Using FPGA, we take advantage of the high speeds achievable using hardware, and as a result, it is a beneficial and economic investment for designs requiring artificial Neural Networks.</a:t>
            </a:r>
          </a:p>
          <a:p>
            <a:r>
              <a:rPr lang="en-US" dirty="0"/>
              <a:t>In conclusion, this work demonstrates that low-latency wildfire indication on an FPGA is feasible and efficient. </a:t>
            </a:r>
          </a:p>
        </p:txBody>
      </p:sp>
    </p:spTree>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TM10001115[[fn=Parcel]]</Template>
  <TotalTime>3845</TotalTime>
  <Words>2673</Words>
  <Application>Microsoft Office PowerPoint</Application>
  <PresentationFormat>On-screen Show (4:3)</PresentationFormat>
  <Paragraphs>209</Paragraphs>
  <Slides>30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Gill Sans MT</vt:lpstr>
      <vt:lpstr>Times New Roman</vt:lpstr>
      <vt:lpstr>Parcel</vt:lpstr>
      <vt:lpstr>VHDL implementation of neural network for Wildfire Detection</vt:lpstr>
      <vt:lpstr>FPGA implementation, neural networks, nonlinear systems</vt:lpstr>
      <vt:lpstr>Problem Definition</vt:lpstr>
      <vt:lpstr>What is neural network?</vt:lpstr>
      <vt:lpstr>PowerPoint Presentation</vt:lpstr>
      <vt:lpstr>Activation functions</vt:lpstr>
      <vt:lpstr>Backpropagation</vt:lpstr>
      <vt:lpstr>Iteration</vt:lpstr>
      <vt:lpstr>Refinement</vt:lpstr>
      <vt:lpstr>architecture</vt:lpstr>
      <vt:lpstr>Neural Network Topology and Quantization</vt:lpstr>
      <vt:lpstr>Fixed-Point and LUT Activation</vt:lpstr>
      <vt:lpstr>Dataset and Sampling</vt:lpstr>
      <vt:lpstr>Experimental Results</vt:lpstr>
      <vt:lpstr>Dataset Examples</vt:lpstr>
      <vt:lpstr>Simulation Output</vt:lpstr>
      <vt:lpstr>Hardware implementation</vt:lpstr>
      <vt:lpstr>FPGA Top-Level Processing Chain</vt:lpstr>
      <vt:lpstr>Key RTL Modules (nn_rgb.vhd)</vt:lpstr>
      <vt:lpstr>The neuron</vt:lpstr>
      <vt:lpstr>Hardware Platforms</vt:lpstr>
      <vt:lpstr>End-to-end workflow</vt:lpstr>
      <vt:lpstr>PowerPoint Presentation</vt:lpstr>
      <vt:lpstr>VHDL design overview</vt:lpstr>
      <vt:lpstr>file roles and typical interfaces</vt:lpstr>
      <vt:lpstr>PowerPoint Presentation</vt:lpstr>
      <vt:lpstr>Data path</vt:lpstr>
      <vt:lpstr>Resource and Timing</vt:lpstr>
      <vt:lpstr>Limitations and Future Work</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Wildfire Pixel Classification on FPGA</dc:title>
  <dc:subject/>
  <dc:creator>ASUS MAXIMUS IX HERO</dc:creator>
  <cp:keywords/>
  <dc:description>generated using python-pptx</dc:description>
  <cp:lastModifiedBy>Κωνσταντινος Διονυσιου</cp:lastModifiedBy>
  <cp:revision>41</cp:revision>
  <dcterms:created xsi:type="dcterms:W3CDTF">2013-01-27T09:14:16Z</dcterms:created>
  <dcterms:modified xsi:type="dcterms:W3CDTF">2026-01-31T19:55:31Z</dcterms:modified>
  <cp:category/>
</cp:coreProperties>
</file>