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41"/>
  </p:notesMasterIdLst>
  <p:sldIdLst>
    <p:sldId id="274" r:id="rId2"/>
    <p:sldId id="295" r:id="rId3"/>
    <p:sldId id="297" r:id="rId4"/>
    <p:sldId id="280" r:id="rId5"/>
    <p:sldId id="273" r:id="rId6"/>
    <p:sldId id="275" r:id="rId7"/>
    <p:sldId id="276" r:id="rId8"/>
    <p:sldId id="277" r:id="rId9"/>
    <p:sldId id="296" r:id="rId10"/>
    <p:sldId id="278" r:id="rId11"/>
    <p:sldId id="279" r:id="rId12"/>
    <p:sldId id="257" r:id="rId13"/>
    <p:sldId id="256" r:id="rId14"/>
    <p:sldId id="260" r:id="rId15"/>
    <p:sldId id="263" r:id="rId16"/>
    <p:sldId id="259" r:id="rId17"/>
    <p:sldId id="258" r:id="rId18"/>
    <p:sldId id="289" r:id="rId19"/>
    <p:sldId id="293" r:id="rId20"/>
    <p:sldId id="267" r:id="rId21"/>
    <p:sldId id="294" r:id="rId22"/>
    <p:sldId id="282" r:id="rId23"/>
    <p:sldId id="264" r:id="rId24"/>
    <p:sldId id="265" r:id="rId25"/>
    <p:sldId id="281" r:id="rId26"/>
    <p:sldId id="268" r:id="rId27"/>
    <p:sldId id="283" r:id="rId28"/>
    <p:sldId id="284" r:id="rId29"/>
    <p:sldId id="285" r:id="rId30"/>
    <p:sldId id="292" r:id="rId31"/>
    <p:sldId id="270" r:id="rId32"/>
    <p:sldId id="271" r:id="rId33"/>
    <p:sldId id="272" r:id="rId34"/>
    <p:sldId id="298" r:id="rId35"/>
    <p:sldId id="286" r:id="rId36"/>
    <p:sldId id="287" r:id="rId37"/>
    <p:sldId id="290" r:id="rId38"/>
    <p:sldId id="288" r:id="rId39"/>
    <p:sldId id="291" r:id="rId4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927" autoAdjust="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1332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962055-B13C-4613-83A1-B4299BCABB00}" type="datetimeFigureOut">
              <a:rPr lang="en-US" smtClean="0"/>
              <a:t>3/24/2026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0FA6DA-BA71-4DB6-AC18-B52481E91B7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44656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Clarify that each pixel is classified in real time using FPGA hardware.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2334030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102240" y="2386744"/>
            <a:ext cx="693952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5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21396" y="4352544"/>
            <a:ext cx="5101209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1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19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19727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51671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106424" y="2386744"/>
            <a:ext cx="6940296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5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21396" y="4352465"/>
            <a:ext cx="5101209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1900">
                <a:solidFill>
                  <a:schemeClr val="tx1"/>
                </a:solidFill>
              </a:defRPr>
            </a:lvl1pPr>
            <a:lvl2pPr marL="4572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81442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2239" y="2638044"/>
            <a:ext cx="3288023" cy="310198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53737" y="2638044"/>
            <a:ext cx="3290516" cy="310198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95362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2239" y="2313434"/>
            <a:ext cx="3288024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2239" y="3143250"/>
            <a:ext cx="3288024" cy="259677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737" y="3143250"/>
            <a:ext cx="3290516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753737" y="2313434"/>
            <a:ext cx="3290516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8947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40522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36662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640703" y="2243829"/>
            <a:ext cx="3290594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1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52060" y="804672"/>
            <a:ext cx="361188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2965" y="3549918"/>
            <a:ext cx="284607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640703" y="6236208"/>
            <a:ext cx="3806398" cy="320040"/>
          </a:xfrm>
        </p:spPr>
        <p:txBody>
          <a:bodyPr>
            <a:normAutofit/>
          </a:bodyPr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08705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1" y="0"/>
            <a:ext cx="4571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640080" y="2243828"/>
            <a:ext cx="3291840" cy="1143000"/>
          </a:xfrm>
          <a:solidFill>
            <a:srgbClr val="FFFFFF"/>
          </a:solidFill>
          <a:ln>
            <a:solidFill>
              <a:srgbClr val="262626"/>
            </a:solidFill>
          </a:ln>
        </p:spPr>
        <p:txBody>
          <a:bodyPr anchor="ctr" anchorCtr="1">
            <a:noAutofit/>
          </a:bodyPr>
          <a:lstStyle>
            <a:lvl1pPr>
              <a:defRPr sz="21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72000" y="-42172"/>
            <a:ext cx="4576573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2965" y="3549919"/>
            <a:ext cx="284607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5BCAD085-E8A6-8845-BD4E-CB4CCA059FC4}" type="datetimeFigureOut">
              <a:rPr lang="en-US" smtClean="0"/>
              <a:t>3/24/2026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640080" y="6236208"/>
            <a:ext cx="3803904" cy="320040"/>
          </a:xfrm>
        </p:spPr>
        <p:txBody>
          <a:bodyPr>
            <a:normAutofit/>
          </a:bodyPr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59215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42631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89834" y="937260"/>
            <a:ext cx="1053966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06046" y="937260"/>
            <a:ext cx="4716174" cy="498348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26372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1606045" y="964692"/>
            <a:ext cx="5937755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06045" y="2638045"/>
            <a:ext cx="5937755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78943" y="6238816"/>
            <a:ext cx="2065310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02239" y="6236208"/>
            <a:ext cx="4556664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40112" y="6217920"/>
            <a:ext cx="365760" cy="365760"/>
          </a:xfrm>
          <a:prstGeom prst="ellipse">
            <a:avLst/>
          </a:prstGeom>
          <a:solidFill>
            <a:srgbClr val="1D1D1D">
              <a:alpha val="69804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71841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6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44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28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hyperlink" Target="vscode-file://vscode-app/d:/Microsoft%20VS%20Code/resources/app/out/vs/code/electron-browser/workbench/workbench.html" TargetMode="Externa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hyperlink" Target="vscode-file://vscode-app/d:/Microsoft%20VS%20Code/resources/app/out/vs/code/electron-browser/workbench/workbench.html" TargetMode="Externa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hyperlink" Target="vscode-file://vscode-app/d:/Microsoft%20VS%20Code/resources/app/out/vs/code/electron-browser/workbench/workbench.html" TargetMode="Externa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hyperlink" Target="vscode-file://vscode-app/d:/Microsoft%20VS%20Code/resources/app/out/vs/code/electron-browser/workbench/workbench.html" TargetMode="Externa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hyperlink" Target="vscode-file://vscode-app/d:/Microsoft%20VS%20Code/resources/app/out/vs/code/electron-browser/workbench/workbench.html" TargetMode="Externa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hyperlink" Target="vscode-file://vscode-app/d:/Microsoft%20VS%20Code/resources/app/out/vs/code/electron-browser/workbench/workbench.html" TargetMode="Externa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hyperlink" Target="vscode-file://vscode-app/d:/Microsoft%20VS%20Code/resources/app/out/vs/code/electron-browser/workbench/workbench.html" TargetMode="Externa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99535" y="660400"/>
            <a:ext cx="8026879" cy="1858513"/>
          </a:xfrm>
        </p:spPr>
        <p:txBody>
          <a:bodyPr>
            <a:normAutofit/>
          </a:bodyPr>
          <a:lstStyle/>
          <a:p>
            <a:r>
              <a:rPr lang="en-US" dirty="0"/>
              <a:t>Neural Network </a:t>
            </a:r>
            <a:r>
              <a:rPr dirty="0"/>
              <a:t>for Wildfire Detection</a:t>
            </a:r>
            <a:r>
              <a:rPr lang="en-US" dirty="0"/>
              <a:t>: a hardware design approach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97147" y="2937293"/>
            <a:ext cx="7177177" cy="2669875"/>
          </a:xfrm>
        </p:spPr>
        <p:txBody>
          <a:bodyPr>
            <a:normAutofit fontScale="92500" lnSpcReduction="10000"/>
          </a:bodyPr>
          <a:lstStyle/>
          <a:p>
            <a:r>
              <a:rPr dirty="0"/>
              <a:t>Bachelor Thesis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dirty="0"/>
          </a:p>
          <a:p>
            <a:r>
              <a:rPr dirty="0"/>
              <a:t>Constantinos Dionysiou</a:t>
            </a:r>
          </a:p>
          <a:p>
            <a:r>
              <a:rPr dirty="0"/>
              <a:t>Cyprus University of Technology</a:t>
            </a:r>
          </a:p>
          <a:p>
            <a:r>
              <a:rPr dirty="0"/>
              <a:t>Department of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32656799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0186" y="164144"/>
            <a:ext cx="5937755" cy="1188720"/>
          </a:xfrm>
        </p:spPr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70186" y="1616068"/>
            <a:ext cx="6408402" cy="5089531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Nonlinear systems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What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neural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pPr lvl="1"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Activation functions</a:t>
            </a:r>
          </a:p>
          <a:p>
            <a:pPr lvl="1"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Forward propagation</a:t>
            </a:r>
          </a:p>
          <a:p>
            <a:pPr lvl="1"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Backpropagation</a:t>
            </a:r>
          </a:p>
          <a:p>
            <a:pPr lvl="1"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Iteration</a:t>
            </a:r>
          </a:p>
          <a:p>
            <a:pPr marL="228600" lvl="1"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Refinement</a:t>
            </a:r>
          </a:p>
          <a:p>
            <a:pPr marL="228600" lvl="1"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</a:t>
            </a:r>
          </a:p>
          <a:p>
            <a:pPr marL="228600"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Neural Network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Topology</a:t>
            </a:r>
          </a:p>
          <a:p>
            <a:pPr marL="228600"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Fixed-Point and LUT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Activation</a:t>
            </a:r>
          </a:p>
          <a:p>
            <a:pPr marL="228600"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and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Sampling</a:t>
            </a:r>
          </a:p>
          <a:p>
            <a:pPr marL="228600"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Examples</a:t>
            </a:r>
          </a:p>
          <a:p>
            <a:pPr marL="228600"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  <a:p>
            <a:pPr marL="228600" lvl="1" algn="just"/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lvl="1" algn="just"/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12670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6044" y="202691"/>
            <a:ext cx="5937755" cy="1188720"/>
          </a:xfrm>
        </p:spPr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06045" y="1420725"/>
            <a:ext cx="5937755" cy="4444073"/>
          </a:xfrm>
        </p:spPr>
        <p:txBody>
          <a:bodyPr>
            <a:noAutofit/>
          </a:bodyPr>
          <a:lstStyle/>
          <a:p>
            <a:pPr marL="228600" lvl="1" algn="just"/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Simulation</a:t>
            </a:r>
          </a:p>
          <a:p>
            <a:pPr marL="447675" lvl="1" algn="just"/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Simulation Output</a:t>
            </a:r>
          </a:p>
          <a:p>
            <a:pPr marL="228600" lvl="1" algn="just"/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implementation</a:t>
            </a:r>
          </a:p>
          <a:p>
            <a:pPr marL="447675" lvl="1" algn="just"/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FPGA Top-Level Processing Chain</a:t>
            </a:r>
          </a:p>
          <a:p>
            <a:pPr marL="447675" lvl="1" algn="just"/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RTL Modules </a:t>
            </a:r>
          </a:p>
          <a:p>
            <a:pPr marL="447675" lvl="1" algn="just"/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neuron</a:t>
            </a:r>
          </a:p>
          <a:p>
            <a:pPr marL="447675" lvl="1" algn="just"/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Platforms</a:t>
            </a:r>
          </a:p>
          <a:p>
            <a:pPr marL="228600" lvl="1" algn="just"/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End-to-end workflow</a:t>
            </a:r>
          </a:p>
          <a:p>
            <a:pPr marL="228600" lvl="1" algn="just"/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VHDL design overview</a:t>
            </a:r>
          </a:p>
          <a:p>
            <a:pPr marL="228600" lvl="1" algn="just"/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Resource and Timing</a:t>
            </a:r>
          </a:p>
          <a:p>
            <a:pPr marL="228600" lvl="1" algn="just"/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 and Future Work</a:t>
            </a:r>
          </a:p>
          <a:p>
            <a:pPr marL="228600" lvl="1" algn="just"/>
            <a:r>
              <a:rPr lang="en-US" sz="1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marL="228600" lvl="1" algn="just"/>
            <a:r>
              <a:rPr lang="en-US" sz="1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Bibliography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lvl="1" algn="just"/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info</a:t>
            </a:r>
          </a:p>
          <a:p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8310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FPGA implementation, neural networks, nonlinear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34203" y="2581836"/>
            <a:ext cx="7081437" cy="3487269"/>
          </a:xfrm>
        </p:spPr>
        <p:txBody>
          <a:bodyPr>
            <a:normAutofit fontScale="92500" lnSpcReduction="1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Artificial neural networks (ANNs) are selected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for:</a:t>
            </a:r>
          </a:p>
          <a:p>
            <a:pPr marL="806450" indent="-268288">
              <a:buFont typeface="Wingdings" panose="05000000000000000000" pitchFamily="2" charset="2"/>
              <a:buChar char="Ø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adaptability -&gt;  analyze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diverse data quickly through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network parallelism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FPGAs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(field programmable gate arrays)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customizable nature: </a:t>
            </a:r>
          </a:p>
          <a:p>
            <a:pPr marL="8064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poorer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than VLSI (Very Large Scale Integration)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circuits </a:t>
            </a:r>
          </a:p>
          <a:p>
            <a:pPr marL="8064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but possible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change an ANN's features or structure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without rebuilding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circuit.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64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rapid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cycles and are inherently parallel.</a:t>
            </a:r>
          </a:p>
        </p:txBody>
      </p:sp>
    </p:spTree>
    <p:extLst>
      <p:ext uri="{BB962C8B-B14F-4D97-AF65-F5344CB8AC3E}">
        <p14:creationId xmlns:p14="http://schemas.microsoft.com/office/powerpoint/2010/main" val="26934320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Problem Definition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8429" y="2568749"/>
            <a:ext cx="7212985" cy="3590004"/>
          </a:xfrm>
        </p:spPr>
        <p:txBody>
          <a:bodyPr>
            <a:normAutofit lnSpcReduction="10000"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wildfire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indication:</a:t>
            </a:r>
          </a:p>
          <a:p>
            <a:pPr marL="806450">
              <a:buFont typeface="Wingdings" panose="05000000000000000000" pitchFamily="2" charset="2"/>
              <a:buChar char="Ø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using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RGB video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streams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per-pixel classification performed at full video frame rate.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is designed to operate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at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edge, without relying on cloud infrastructure or GPU (Graphical Processing Unit) acceleration.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Goal: </a:t>
            </a:r>
          </a:p>
          <a:p>
            <a:pPr marL="806450">
              <a:buFont typeface="Wingdings" panose="05000000000000000000" pitchFamily="2" charset="2"/>
              <a:buChar char="Ø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high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throughput with low power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consumption </a:t>
            </a:r>
          </a:p>
          <a:p>
            <a:pPr marL="806450">
              <a:buFont typeface="Wingdings" panose="05000000000000000000" pitchFamily="2" charset="2"/>
              <a:buChar char="Ø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reliable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responsive wildfire detection in practical deployments.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09985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2776" y="4375307"/>
            <a:ext cx="5387789" cy="248269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6045" y="238551"/>
            <a:ext cx="5937755" cy="1188720"/>
          </a:xfrm>
        </p:spPr>
        <p:txBody>
          <a:bodyPr/>
          <a:lstStyle/>
          <a:p>
            <a:r>
              <a:rPr lang="en-US" dirty="0"/>
              <a:t>What is neural network?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306" y="1454166"/>
            <a:ext cx="7960659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Neural networks are machine learning models composed of interconnected nodes or neurons that process information, identify patterns, and facilitate tasks such as decision-making and pattern recognition.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Networks are built from several key components: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Neurons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 basic units that receive inputs, each neuron is governed by a threshold and an activation function.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Connections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Links between neurons that carry information, regulated by weights and biases.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Weights and Biases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These parameters determine the strength and influence of connections.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Propagation Functions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Mechanisms that help process and transfer data across layers of neurons.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48918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3918" y="2802871"/>
            <a:ext cx="6200775" cy="315277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75129" y="1066801"/>
            <a:ext cx="6786283" cy="3570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Neuron  the output y=f(Xi*Wi+b)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 Transformation: Inputs are multiplied by the weights connected to each neuron in a layer. After adding a bias to the total, these products are totaled. This can be expressed numerically as: </a:t>
            </a:r>
            <a:r>
              <a:rPr lang="pl-PL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pl-PL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pl-PL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pl-PL" dirty="0">
                <a:latin typeface="Times New Roman" panose="02020603050405020304" pitchFamily="18" charset="0"/>
                <a:cs typeface="Times New Roman" panose="02020603050405020304" pitchFamily="18" charset="0"/>
              </a:rPr>
              <a:t>1​</a:t>
            </a:r>
            <a:r>
              <a:rPr lang="pl-PL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pl-PL" dirty="0">
                <a:latin typeface="Times New Roman" panose="02020603050405020304" pitchFamily="18" charset="0"/>
                <a:cs typeface="Times New Roman" panose="02020603050405020304" pitchFamily="18" charset="0"/>
              </a:rPr>
              <a:t>1​+</a:t>
            </a:r>
            <a:r>
              <a:rPr lang="pl-PL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pl-PL" dirty="0">
                <a:latin typeface="Times New Roman" panose="02020603050405020304" pitchFamily="18" charset="0"/>
                <a:cs typeface="Times New Roman" panose="02020603050405020304" pitchFamily="18" charset="0"/>
              </a:rPr>
              <a:t>2​</a:t>
            </a:r>
            <a:r>
              <a:rPr lang="pl-PL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pl-PL" dirty="0">
                <a:latin typeface="Times New Roman" panose="02020603050405020304" pitchFamily="18" charset="0"/>
                <a:cs typeface="Times New Roman" panose="02020603050405020304" pitchFamily="18" charset="0"/>
              </a:rPr>
              <a:t>2​+…+</a:t>
            </a:r>
            <a:r>
              <a:rPr lang="pl-PL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wn</a:t>
            </a:r>
            <a:r>
              <a:rPr lang="pl-PL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  <a:r>
              <a:rPr lang="pl-PL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xn</a:t>
            </a:r>
            <a:r>
              <a:rPr lang="pl-PL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​+</a:t>
            </a:r>
            <a:r>
              <a:rPr lang="pl-PL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AutoNum type="arabicPeriod"/>
            </a:pPr>
            <a:endParaRPr lang="en-US" sz="16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W:represents the weights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X: represents the inputs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b: is the bias</a:t>
            </a:r>
          </a:p>
        </p:txBody>
      </p:sp>
    </p:spTree>
    <p:extLst>
      <p:ext uri="{BB962C8B-B14F-4D97-AF65-F5344CB8AC3E}">
        <p14:creationId xmlns:p14="http://schemas.microsoft.com/office/powerpoint/2010/main" val="31542899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Activation functions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347" y="2450726"/>
            <a:ext cx="6915150" cy="27813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14425" y="5413956"/>
            <a:ext cx="761719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Activation: The result of the linear transformation (denoted as z) is then passed through an activation function. The activation function is crucial because it introduces non-linearity into the system, enabling the network to learn more complex patterns. Popular activation functions include ReLU (Rectified Linear Unit) and sigmoid.</a:t>
            </a:r>
          </a:p>
        </p:txBody>
      </p:sp>
    </p:spTree>
    <p:extLst>
      <p:ext uri="{BB962C8B-B14F-4D97-AF65-F5344CB8AC3E}">
        <p14:creationId xmlns:p14="http://schemas.microsoft.com/office/powerpoint/2010/main" val="14593420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forward propagation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05410" y="2458751"/>
            <a:ext cx="7654496" cy="3101983"/>
          </a:xfrm>
        </p:spPr>
        <p:txBody>
          <a:bodyPr/>
          <a:lstStyle/>
          <a:p>
            <a:r>
              <a:rPr lang="en-US" dirty="0"/>
              <a:t> Input data is fed into the network, passed through hidden </a:t>
            </a:r>
            <a:r>
              <a:rPr lang="en-US" dirty="0" smtClean="0"/>
              <a:t>layers, </a:t>
            </a:r>
            <a:r>
              <a:rPr lang="en-US" dirty="0"/>
              <a:t>and </a:t>
            </a:r>
            <a:r>
              <a:rPr lang="en-US" dirty="0" smtClean="0"/>
              <a:t>the </a:t>
            </a:r>
            <a:r>
              <a:rPr lang="en-US" dirty="0"/>
              <a:t>output layer generates a prediction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dirty="0" smtClean="0"/>
              <a:t>Calculate </a:t>
            </a:r>
            <a:r>
              <a:rPr lang="en-US" dirty="0"/>
              <a:t>output values (e.g., classification probabilities) used for </a:t>
            </a:r>
            <a:r>
              <a:rPr lang="en-US" dirty="0" smtClean="0"/>
              <a:t>inference</a:t>
            </a:r>
            <a:endParaRPr lang="en-US" dirty="0"/>
          </a:p>
          <a:p>
            <a:pPr marL="538163" indent="-269875">
              <a:lnSpc>
                <a:spcPct val="150000"/>
              </a:lnSpc>
              <a:buFont typeface="Wingdings" panose="05000000000000000000" pitchFamily="2" charset="2"/>
              <a:buChar char="Ø"/>
              <a:tabLst>
                <a:tab pos="179388" algn="l"/>
              </a:tabLst>
            </a:pPr>
            <a:r>
              <a:rPr lang="en-US" b="1" dirty="0" smtClean="0"/>
              <a:t>Input: </a:t>
            </a:r>
            <a:r>
              <a:rPr lang="en-US" dirty="0" smtClean="0"/>
              <a:t>Input data </a:t>
            </a:r>
            <a:r>
              <a:rPr lang="en-US" dirty="0"/>
              <a:t>is fed into the input </a:t>
            </a:r>
            <a:r>
              <a:rPr lang="en-US" dirty="0" smtClean="0"/>
              <a:t>layer</a:t>
            </a:r>
          </a:p>
          <a:p>
            <a:pPr marL="538163" indent="-269875">
              <a:lnSpc>
                <a:spcPct val="150000"/>
              </a:lnSpc>
              <a:buFont typeface="Wingdings" panose="05000000000000000000" pitchFamily="2" charset="2"/>
              <a:buChar char="Ø"/>
              <a:tabLst>
                <a:tab pos="179388" algn="l"/>
              </a:tabLst>
            </a:pPr>
            <a:r>
              <a:rPr lang="en-US" b="1" dirty="0"/>
              <a:t>Hidden </a:t>
            </a:r>
            <a:r>
              <a:rPr lang="en-US" b="1" dirty="0" smtClean="0"/>
              <a:t>Layers: </a:t>
            </a:r>
            <a:r>
              <a:rPr lang="en-US" dirty="0" smtClean="0"/>
              <a:t>Data </a:t>
            </a:r>
            <a:r>
              <a:rPr lang="en-US" dirty="0"/>
              <a:t>is passed through hidden layers</a:t>
            </a:r>
            <a:r>
              <a:rPr lang="en-US" dirty="0" smtClean="0"/>
              <a:t>.</a:t>
            </a:r>
          </a:p>
          <a:p>
            <a:pPr marL="538163" indent="-269875">
              <a:lnSpc>
                <a:spcPct val="150000"/>
              </a:lnSpc>
              <a:buFont typeface="Wingdings" panose="05000000000000000000" pitchFamily="2" charset="2"/>
              <a:buChar char="Ø"/>
              <a:tabLst>
                <a:tab pos="179388" algn="l"/>
              </a:tabLst>
            </a:pPr>
            <a:r>
              <a:rPr lang="en-US" b="1" dirty="0"/>
              <a:t>Output Layer</a:t>
            </a:r>
            <a:r>
              <a:rPr lang="en-US" b="1" dirty="0" smtClean="0"/>
              <a:t>: </a:t>
            </a:r>
            <a:r>
              <a:rPr lang="en-US" dirty="0" smtClean="0"/>
              <a:t>The </a:t>
            </a:r>
            <a:r>
              <a:rPr lang="en-US" dirty="0"/>
              <a:t>final layer calculates the prediction</a:t>
            </a:r>
          </a:p>
        </p:txBody>
      </p:sp>
    </p:spTree>
    <p:extLst>
      <p:ext uri="{BB962C8B-B14F-4D97-AF65-F5344CB8AC3E}">
        <p14:creationId xmlns:p14="http://schemas.microsoft.com/office/powerpoint/2010/main" val="3793483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7615" y="480598"/>
            <a:ext cx="5937755" cy="1188720"/>
          </a:xfrm>
        </p:spPr>
        <p:txBody>
          <a:bodyPr/>
          <a:lstStyle/>
          <a:p>
            <a:r>
              <a:rPr lang="en-US" b="1" dirty="0"/>
              <a:t>Backpropagation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586" y="2070847"/>
            <a:ext cx="8175811" cy="4419600"/>
          </a:xfrm>
        </p:spPr>
        <p:txBody>
          <a:bodyPr>
            <a:normAutofit fontScale="92500" lnSpcReduction="2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Following forward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propagation:</a:t>
            </a:r>
          </a:p>
          <a:p>
            <a:pPr marL="447675">
              <a:buFont typeface="Wingdings" panose="05000000000000000000" pitchFamily="2" charset="2"/>
              <a:buChar char="Ø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uses a loss function to quantify the discrepancy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between:</a:t>
            </a:r>
          </a:p>
          <a:p>
            <a:pPr marL="538163">
              <a:buFont typeface="Wingdings" panose="05000000000000000000" pitchFamily="2" charset="2"/>
              <a:buChar char="q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actual and expected outputs, assessing its performance. </a:t>
            </a:r>
          </a:p>
          <a:p>
            <a:pPr marL="309563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Reducing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loss is the aim of training. 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Loss Calculation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 network determines the loss, which gives an indication of the prediction error.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Gradient Calculation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 network calculates the gradients of the loss function in relation to each network weight and bias.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Weight Update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After the gradients are computed, an optimization procedure such as stochastic gradient descent (SGD) is used to update the weights and biases. </a:t>
            </a:r>
          </a:p>
        </p:txBody>
      </p:sp>
    </p:spTree>
    <p:extLst>
      <p:ext uri="{BB962C8B-B14F-4D97-AF65-F5344CB8AC3E}">
        <p14:creationId xmlns:p14="http://schemas.microsoft.com/office/powerpoint/2010/main" val="27521086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Iteration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10744" y="2638045"/>
            <a:ext cx="6928355" cy="3959979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Forward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propagation, weight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updating, backpropagation, and loss computation are all repeated numerous times across the dataset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806450">
              <a:buFont typeface="Wingdings" panose="05000000000000000000" pitchFamily="2" charset="2"/>
              <a:buChar char="Ø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iterative approach gradually lowers the loss and improves the accuracy of the network's predictions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806450"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Neural networks can perform better on tasks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like:</a:t>
            </a:r>
          </a:p>
          <a:p>
            <a:pPr marL="806450">
              <a:buFont typeface="Wingdings" panose="05000000000000000000" pitchFamily="2" charset="2"/>
              <a:buChar char="Ø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classification,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regression by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adjusting their parameters to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accurately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represent the relationships in the data.</a:t>
            </a:r>
          </a:p>
        </p:txBody>
      </p:sp>
    </p:spTree>
    <p:extLst>
      <p:ext uri="{BB962C8B-B14F-4D97-AF65-F5344CB8AC3E}">
        <p14:creationId xmlns:p14="http://schemas.microsoft.com/office/powerpoint/2010/main" val="28915891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Refinement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12304" y="2924916"/>
            <a:ext cx="7242802" cy="3101983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Early wildfire indication directly from a live video stream by performing low-latency, low-power per-pixel classification on an FPGA is targeted.        	</a:t>
            </a:r>
            <a:r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 wildfires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cause severe environmental and economic damage 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 early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detection is essential to minimizing their spread. 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Compared to cloud-based or GPU-based AI solutions, an FPGA edge implementation can avoid the high latency and power draw that often limit real-time deployment.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2240" y="360721"/>
            <a:ext cx="6939520" cy="1645920"/>
          </a:xfrm>
        </p:spPr>
        <p:txBody>
          <a:bodyPr/>
          <a:lstStyle/>
          <a:p>
            <a:r>
              <a:rPr lang="en-US" dirty="0"/>
              <a:t>architecture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9842" y="2140524"/>
            <a:ext cx="5101209" cy="1239894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architecture used is a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3–7–2 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ulti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ayer Perceptron (MLP) in Python for training and then in VHDL for inference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9953" y="3350245"/>
            <a:ext cx="4398310" cy="281491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86871" y="3110753"/>
            <a:ext cx="3684494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MLP: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def __init__(self, in_dim, hidden, out_dim, act="sigmoid"):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rng = np.random.default_rng(42)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self.W1 = rng.normal(0, 0.2, (hidden, in_dim)).astype(np.float32)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self.b1 = np.zeros((hidden,), dtype=np.float32)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self.W2 = rng.normal(0, 0.2, (out_dim, hidden)).astype(np.float32)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self.b2 = np.zeros((out_dim,), dtype=np.float32)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self.act = sigmoid if act == "sigmoid" else relu</a:t>
            </a:r>
          </a:p>
          <a:p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def forward(self, x):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h = self.act(x @ self.W1.T + self.b1)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z = h @ self.W2.T + self.b2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return z, h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6045" y="223664"/>
            <a:ext cx="5937755" cy="1188720"/>
          </a:xfrm>
        </p:spPr>
        <p:txBody>
          <a:bodyPr>
            <a:normAutofit/>
          </a:bodyPr>
          <a:lstStyle/>
          <a:p>
            <a:r>
              <a:rPr dirty="0"/>
              <a:t>Neural Network Topology and Quantization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463040" y="0"/>
            <a:ext cx="219456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463040" y="0"/>
            <a:ext cx="219456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463040" y="0"/>
            <a:ext cx="219456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463040" y="0"/>
            <a:ext cx="219456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463040" y="0"/>
            <a:ext cx="219456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463040" y="0"/>
            <a:ext cx="219456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463040" y="0"/>
            <a:ext cx="219456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1463040" y="0"/>
            <a:ext cx="219456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463040" y="0"/>
            <a:ext cx="219456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463040" y="0"/>
            <a:ext cx="219456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463040" y="0"/>
            <a:ext cx="219456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463040" y="0"/>
            <a:ext cx="219456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463040" y="0"/>
            <a:ext cx="219456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463040" y="0"/>
            <a:ext cx="219456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1463040" y="0"/>
            <a:ext cx="219456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1463040" y="0"/>
            <a:ext cx="219456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463040" y="0"/>
            <a:ext cx="219456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463040" y="0"/>
            <a:ext cx="219456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1463040" y="0"/>
            <a:ext cx="219456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1463040" y="0"/>
            <a:ext cx="219456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1463040" y="0"/>
            <a:ext cx="219456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4206240" y="0"/>
            <a:ext cx="219456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4206240" y="0"/>
            <a:ext cx="219456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4206240" y="0"/>
            <a:ext cx="219456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4206240" y="0"/>
            <a:ext cx="219456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4206240" y="0"/>
            <a:ext cx="219456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4206240" y="0"/>
            <a:ext cx="219456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4206240" y="0"/>
            <a:ext cx="219456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4206240" y="0"/>
            <a:ext cx="219456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4206240" y="0"/>
            <a:ext cx="219456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4206240" y="0"/>
            <a:ext cx="219456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4206240" y="0"/>
            <a:ext cx="219456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4206240" y="0"/>
            <a:ext cx="219456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4206240" y="0"/>
            <a:ext cx="219456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4206240" y="0"/>
            <a:ext cx="219456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3484318" y="2213433"/>
            <a:ext cx="5220412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Fixed-point design</a:t>
            </a:r>
            <a:r>
              <a:rPr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- Inputs: 8-bit RGB (0..255) normalized in integer </a:t>
            </a:r>
            <a:r>
              <a:rPr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domain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- Weights/bias: signed ints (exported from Python</a:t>
            </a:r>
            <a:r>
              <a:rPr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- Activation: 12-bit address -&gt; 8-bit output ROM (sigmoid 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ook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able - LUT</a:t>
            </a:r>
            <a:r>
              <a:rPr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- Total params: 44 ints (3x7 + 7 bias + 7x2 + 2 bias)</a:t>
            </a:r>
          </a:p>
        </p:txBody>
      </p:sp>
      <p:pic>
        <p:nvPicPr>
          <p:cNvPr id="54" name="Picture 5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825" y="1636047"/>
            <a:ext cx="2977622" cy="429409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Fixed-Point and LUT Activation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300000"/>
              </a:lnSpc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Weights/bias quantized to integers, packed in VHDL arrays</a:t>
            </a:r>
          </a:p>
          <a:p>
            <a:pPr>
              <a:lnSpc>
                <a:spcPct val="300000"/>
              </a:lnSpc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Sigmoid implemented as ROM (12-bit address)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300000"/>
              </a:lnSpc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Neuron pipeline: parallel multipliers + accumulator + LUT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Dataset and Sampling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200000"/>
              </a:lnSpc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Source: wildfire images + segmentation masks (where available)</a:t>
            </a:r>
          </a:p>
          <a:p>
            <a:pPr lvl="1">
              <a:lnSpc>
                <a:spcPct val="200000"/>
              </a:lnSpc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Per-image random pixel sampling; balanced pos/neg when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mask exists</a:t>
            </a:r>
          </a:p>
          <a:p>
            <a:pPr lvl="1">
              <a:lnSpc>
                <a:spcPct val="200000"/>
              </a:lnSpc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Features: raw RGB (8-bit each); Labels: fire vs not-fire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6045" y="214194"/>
            <a:ext cx="5937755" cy="1188720"/>
          </a:xfrm>
        </p:spPr>
        <p:txBody>
          <a:bodyPr/>
          <a:lstStyle/>
          <a:p>
            <a:r>
              <a:rPr dirty="0"/>
              <a:t>Dataset Examples</a:t>
            </a:r>
          </a:p>
        </p:txBody>
      </p:sp>
      <p:pic>
        <p:nvPicPr>
          <p:cNvPr id="3" name="Picture 2" descr="Img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572" y="1709756"/>
            <a:ext cx="4754880" cy="4754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93365" y="6435306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/>
              <a:t>Fire</a:t>
            </a:r>
          </a:p>
        </p:txBody>
      </p:sp>
      <p:pic>
        <p:nvPicPr>
          <p:cNvPr id="5" name="Picture 4" descr="Img_1045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9452" y="1709756"/>
            <a:ext cx="4754880" cy="47548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166360" y="641952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/>
              <a:t>Not Fire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Experimental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Software evaluation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200702"/>
            <a:ext cx="3657298" cy="365729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3200702"/>
            <a:ext cx="4571622" cy="3657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94255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6045" y="274409"/>
            <a:ext cx="5937755" cy="1188720"/>
          </a:xfrm>
        </p:spPr>
        <p:txBody>
          <a:bodyPr/>
          <a:lstStyle/>
          <a:p>
            <a:r>
              <a:rPr dirty="0" smtClean="0"/>
              <a:t>Simulation</a:t>
            </a:r>
            <a:endParaRPr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2" y="1714500"/>
            <a:ext cx="9144000" cy="5143500"/>
          </a:xfrm>
          <a:prstGeom prst="rect">
            <a:avLst/>
          </a:prstGeom>
        </p:spPr>
      </p:pic>
      <p:cxnSp>
        <p:nvCxnSpPr>
          <p:cNvPr id="12" name="Straight Arrow Connector 11"/>
          <p:cNvCxnSpPr/>
          <p:nvPr/>
        </p:nvCxnSpPr>
        <p:spPr>
          <a:xfrm flipH="1">
            <a:off x="4171950" y="1833563"/>
            <a:ext cx="457200" cy="6429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536822" y="1651472"/>
            <a:ext cx="46272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clock</a:t>
            </a:r>
            <a:endParaRPr lang="en-US" sz="9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019800" y="2919413"/>
            <a:ext cx="428625" cy="2476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9" name="Straight Arrow Connector 18"/>
          <p:cNvCxnSpPr/>
          <p:nvPr/>
        </p:nvCxnSpPr>
        <p:spPr>
          <a:xfrm>
            <a:off x="5400675" y="1882304"/>
            <a:ext cx="619125" cy="10455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089272" y="1695443"/>
            <a:ext cx="697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RGB input</a:t>
            </a:r>
            <a:endParaRPr lang="en-US" sz="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6448425" y="3418434"/>
            <a:ext cx="328613" cy="23924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6" name="Straight Arrow Connector 25"/>
          <p:cNvCxnSpPr>
            <a:stCxn id="27" idx="2"/>
          </p:cNvCxnSpPr>
          <p:nvPr/>
        </p:nvCxnSpPr>
        <p:spPr>
          <a:xfrm flipH="1">
            <a:off x="6515101" y="1909764"/>
            <a:ext cx="254412" cy="15086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420930" y="1694320"/>
            <a:ext cx="697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RGB output</a:t>
            </a:r>
            <a:endParaRPr lang="en-US" sz="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4076701" y="2676451"/>
            <a:ext cx="152400" cy="25137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2" name="Straight Arrow Connector 31"/>
          <p:cNvCxnSpPr/>
          <p:nvPr/>
        </p:nvCxnSpPr>
        <p:spPr>
          <a:xfrm>
            <a:off x="3548063" y="1833563"/>
            <a:ext cx="528638" cy="8428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3038476" y="1666860"/>
            <a:ext cx="115252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 smtClean="0">
                <a:solidFill>
                  <a:srgbClr val="FF0000"/>
                </a:solidFill>
              </a:rPr>
              <a:t>Sync/valid signals</a:t>
            </a:r>
            <a:endParaRPr lang="en-US" sz="800" dirty="0">
              <a:solidFill>
                <a:srgbClr val="FF0000"/>
              </a:solidFill>
            </a:endParaRPr>
          </a:p>
        </p:txBody>
      </p:sp>
      <p:cxnSp>
        <p:nvCxnSpPr>
          <p:cNvPr id="35" name="Straight Arrow Connector 34"/>
          <p:cNvCxnSpPr/>
          <p:nvPr/>
        </p:nvCxnSpPr>
        <p:spPr>
          <a:xfrm flipH="1">
            <a:off x="4476750" y="6353176"/>
            <a:ext cx="504825" cy="1952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4824413" y="6157913"/>
            <a:ext cx="13716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Brake at line 164</a:t>
            </a:r>
            <a:endParaRPr lang="en-US" sz="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89919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6045" y="534386"/>
            <a:ext cx="5937755" cy="1188720"/>
          </a:xfrm>
        </p:spPr>
        <p:txBody>
          <a:bodyPr/>
          <a:lstStyle/>
          <a:p>
            <a:r>
              <a:rPr dirty="0" smtClean="0"/>
              <a:t>Simulation</a:t>
            </a:r>
            <a:endParaRPr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737" y="1975876"/>
            <a:ext cx="4229381" cy="4681376"/>
          </a:xfrm>
          <a:prstGeom prst="rect">
            <a:avLst/>
          </a:prstGeom>
        </p:spPr>
      </p:pic>
      <p:cxnSp>
        <p:nvCxnSpPr>
          <p:cNvPr id="9" name="Straight Arrow Connector 8"/>
          <p:cNvCxnSpPr/>
          <p:nvPr/>
        </p:nvCxnSpPr>
        <p:spPr>
          <a:xfrm flipH="1">
            <a:off x="2814919" y="3316941"/>
            <a:ext cx="2761128" cy="20439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190564" y="2965538"/>
            <a:ext cx="29404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Simulation completed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3" name="Straight Arrow Connector 12"/>
          <p:cNvCxnSpPr/>
          <p:nvPr/>
        </p:nvCxnSpPr>
        <p:spPr>
          <a:xfrm flipH="1">
            <a:off x="2537012" y="3971364"/>
            <a:ext cx="3039035" cy="8695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576047" y="3686273"/>
            <a:ext cx="32362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Closing output file as .ppm format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Simulation Output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8678"/>
          <a:stretch/>
        </p:blipFill>
        <p:spPr>
          <a:xfrm>
            <a:off x="923365" y="2319743"/>
            <a:ext cx="5190989" cy="348836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288921" y="5978601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Offline accuracy on held-out pixels 79.7% (val split 20%)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3388" y="2319743"/>
            <a:ext cx="3503685" cy="3488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8689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Hardware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15276" y="2422893"/>
            <a:ext cx="6119291" cy="344899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the training is completed in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Python:</a:t>
            </a:r>
          </a:p>
          <a:p>
            <a:pPr marL="8064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parameters are exported as a table where the values are inserted later as fixed values in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VHDL.</a:t>
            </a:r>
          </a:p>
          <a:p>
            <a:pPr marL="8064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architecture does not change, it is just implemented in hardware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01680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33705" y="640968"/>
            <a:ext cx="5937755" cy="1188720"/>
          </a:xfrm>
        </p:spPr>
        <p:txBody>
          <a:bodyPr/>
          <a:lstStyle/>
          <a:p>
            <a:r>
              <a:rPr dirty="0"/>
              <a:t>FPGA Top-Level Processing Chain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81940" y="1951991"/>
            <a:ext cx="2011680" cy="914400"/>
          </a:xfrm>
          <a:prstGeom prst="roundRect">
            <a:avLst/>
          </a:prstGeom>
          <a:solidFill>
            <a:srgbClr val="55555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solidFill>
                  <a:srgbClr val="FFFFFF"/>
                </a:solidFill>
              </a:defRPr>
            </a:pPr>
            <a:r>
              <a:rPr dirty="0"/>
              <a:t>Video Rx</a:t>
            </a:r>
          </a:p>
          <a:p>
            <a:r>
              <a:rPr dirty="0"/>
              <a:t>PCLK, HS/VS/DE</a:t>
            </a:r>
          </a:p>
          <a:p>
            <a:r>
              <a:rPr dirty="0"/>
              <a:t>RGB888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539253" y="2025142"/>
            <a:ext cx="2011680" cy="914400"/>
          </a:xfrm>
          <a:prstGeom prst="roundRect">
            <a:avLst/>
          </a:prstGeom>
          <a:solidFill>
            <a:srgbClr val="3377A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solidFill>
                  <a:srgbClr val="FFFFFF"/>
                </a:solidFill>
              </a:defRPr>
            </a:pPr>
            <a:r>
              <a:rPr dirty="0"/>
              <a:t>Pre-Scale /</a:t>
            </a:r>
          </a:p>
          <a:p>
            <a:r>
              <a:rPr dirty="0"/>
              <a:t>Clamp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71060" y="2564449"/>
            <a:ext cx="2011680" cy="914400"/>
          </a:xfrm>
          <a:prstGeom prst="roundRect">
            <a:avLst/>
          </a:prstGeom>
          <a:solidFill>
            <a:srgbClr val="148F1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solidFill>
                  <a:srgbClr val="FFFFFF"/>
                </a:solidFill>
              </a:defRPr>
            </a:pPr>
            <a:r>
              <a:rPr dirty="0"/>
              <a:t>MLP 3–7–2</a:t>
            </a:r>
          </a:p>
          <a:p>
            <a:r>
              <a:rPr dirty="0"/>
              <a:t>fixed-point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65620" y="3134996"/>
            <a:ext cx="2011680" cy="914400"/>
          </a:xfrm>
          <a:prstGeom prst="roundRect">
            <a:avLst/>
          </a:prstGeom>
          <a:solidFill>
            <a:srgbClr val="9050A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solidFill>
                  <a:srgbClr val="FFFFFF"/>
                </a:solidFill>
              </a:defRPr>
            </a:pPr>
            <a:r>
              <a:rPr dirty="0"/>
              <a:t>Sigmoid LUT</a:t>
            </a:r>
          </a:p>
          <a:p>
            <a:r>
              <a:rPr dirty="0"/>
              <a:t>ROM 4k×8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15510" y="3880328"/>
            <a:ext cx="2011680" cy="914400"/>
          </a:xfrm>
          <a:prstGeom prst="roundRect">
            <a:avLst/>
          </a:prstGeom>
          <a:solidFill>
            <a:srgbClr val="AA662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solidFill>
                  <a:srgbClr val="FFFFFF"/>
                </a:solidFill>
              </a:defRPr>
            </a:pPr>
            <a:r>
              <a:rPr dirty="0"/>
              <a:t>Classify /</a:t>
            </a:r>
          </a:p>
          <a:p>
            <a:r>
              <a:rPr dirty="0"/>
              <a:t>Overlay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76500" y="4153695"/>
            <a:ext cx="2011680" cy="914400"/>
          </a:xfrm>
          <a:prstGeom prst="roundRect">
            <a:avLst/>
          </a:prstGeom>
          <a:solidFill>
            <a:srgbClr val="55555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solidFill>
                  <a:srgbClr val="FFFFFF"/>
                </a:solidFill>
              </a:defRPr>
            </a:pPr>
            <a:r>
              <a:rPr dirty="0"/>
              <a:t>Video Tx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60320" y="0"/>
            <a:ext cx="1828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754880" y="0"/>
            <a:ext cx="1828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949440" y="0"/>
            <a:ext cx="1828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144000" y="0"/>
            <a:ext cx="1828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1338560" y="0"/>
            <a:ext cx="1828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04140" y="5580380"/>
            <a:ext cx="92227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dirty="0"/>
              <a:t>Data path: per-pixel inference at pixel clock. One-cycle ROM latency. Pipelined MACs in neuron array.</a:t>
            </a:r>
          </a:p>
        </p:txBody>
      </p:sp>
      <p:sp>
        <p:nvSpPr>
          <p:cNvPr id="17" name="Circular Arrow 16"/>
          <p:cNvSpPr/>
          <p:nvPr/>
        </p:nvSpPr>
        <p:spPr>
          <a:xfrm>
            <a:off x="1965063" y="1673907"/>
            <a:ext cx="887506" cy="890542"/>
          </a:xfrm>
          <a:prstGeom prst="circular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Circular Arrow 17"/>
          <p:cNvSpPr/>
          <p:nvPr/>
        </p:nvSpPr>
        <p:spPr>
          <a:xfrm rot="1809532">
            <a:off x="4311127" y="1963920"/>
            <a:ext cx="887506" cy="890542"/>
          </a:xfrm>
          <a:prstGeom prst="circular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Circular Arrow 18"/>
          <p:cNvSpPr/>
          <p:nvPr/>
        </p:nvSpPr>
        <p:spPr>
          <a:xfrm rot="2394062">
            <a:off x="6283438" y="2553820"/>
            <a:ext cx="887506" cy="890542"/>
          </a:xfrm>
          <a:prstGeom prst="circular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Circular Arrow 19"/>
          <p:cNvSpPr/>
          <p:nvPr/>
        </p:nvSpPr>
        <p:spPr>
          <a:xfrm rot="8322091">
            <a:off x="6418211" y="3759846"/>
            <a:ext cx="887506" cy="890542"/>
          </a:xfrm>
          <a:prstGeom prst="circular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1" name="Circular Arrow 20"/>
          <p:cNvSpPr/>
          <p:nvPr/>
        </p:nvSpPr>
        <p:spPr>
          <a:xfrm rot="9619626">
            <a:off x="4158092" y="4264501"/>
            <a:ext cx="887506" cy="890542"/>
          </a:xfrm>
          <a:prstGeom prst="circular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Key RTL Modules (nn_rgb.vhd)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200000"/>
              </a:lnSpc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control.vhd: sync/enable, pipeline alignment</a:t>
            </a:r>
          </a:p>
          <a:p>
            <a:pPr>
              <a:lnSpc>
                <a:spcPct val="200000"/>
              </a:lnSpc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neuron.vhd: MAC tree per neuron with final bias add</a:t>
            </a:r>
          </a:p>
          <a:p>
            <a:pPr>
              <a:lnSpc>
                <a:spcPct val="200000"/>
              </a:lnSpc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multiplier.vhd: per-input multiply (inferred DSP)</a:t>
            </a:r>
          </a:p>
          <a:p>
            <a:pPr>
              <a:lnSpc>
                <a:spcPct val="200000"/>
              </a:lnSpc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sigmoid_IP.vhd: ROM-based LUT (Xilinx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RAM / Intel M9K)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6044" y="274409"/>
            <a:ext cx="5937755" cy="1188720"/>
          </a:xfrm>
        </p:spPr>
        <p:txBody>
          <a:bodyPr/>
          <a:lstStyle/>
          <a:p>
            <a:r>
              <a:rPr lang="en-US" dirty="0"/>
              <a:t>The neuron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762" b="66405"/>
          <a:stretch/>
        </p:blipFill>
        <p:spPr>
          <a:xfrm>
            <a:off x="408332" y="1577788"/>
            <a:ext cx="4988422" cy="46827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68471" y="2052917"/>
            <a:ext cx="3191435" cy="33720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neuron takes the X inputs, multiplies them by the corresponding weights, and then adds them all up, including a bias value. </a:t>
            </a:r>
          </a:p>
          <a:p>
            <a:pPr>
              <a:lnSpc>
                <a:spcPct val="150000"/>
              </a:lnSpc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output goes into the activation function component, which is created as a ROM.</a:t>
            </a:r>
          </a:p>
        </p:txBody>
      </p:sp>
    </p:spTree>
    <p:extLst>
      <p:ext uri="{BB962C8B-B14F-4D97-AF65-F5344CB8AC3E}">
        <p14:creationId xmlns:p14="http://schemas.microsoft.com/office/powerpoint/2010/main" val="291196026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Hardware Platforms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Xilinx ML501 (Virtex-5): DVI Rx/Tx available, JTAG/SystemACE config</a:t>
            </a:r>
          </a:p>
          <a:p>
            <a:pPr>
              <a:lnSpc>
                <a:spcPct val="200000"/>
              </a:lnSpc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 Cyclone V path exists (Quartus 13.0 SP1), no native video Rx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Zynq ultrascale + MPSoCs (only on vivado)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200000"/>
              </a:lnSpc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is vendor-neutral except sigmoid ROM wrapper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6045" y="370332"/>
            <a:ext cx="5937755" cy="1188720"/>
          </a:xfrm>
        </p:spPr>
        <p:txBody>
          <a:bodyPr/>
          <a:lstStyle/>
          <a:p>
            <a:r>
              <a:rPr lang="en-US" dirty="0"/>
              <a:t>End-to-end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759504"/>
            <a:ext cx="6820779" cy="3664143"/>
          </a:xfrm>
        </p:spPr>
        <p:txBody>
          <a:bodyPr>
            <a:noAutofit/>
          </a:bodyPr>
          <a:lstStyle/>
          <a:p>
            <a:pPr lvl="0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and training (Python)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in </a:t>
            </a:r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wildfire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(image and mask folders).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MLP and produce floating-point weights/biases using </a:t>
            </a:r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train_mlp.py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Quantize to fixed-point and export artifacts using:</a:t>
            </a:r>
          </a:p>
          <a:p>
            <a:pPr lvl="2"/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export_fixedpoint.py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converts trained tensors to fixed-point.</a:t>
            </a:r>
          </a:p>
          <a:p>
            <a:pPr lvl="2"/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gen_sigmoid_lut.py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generates activation LUT samples.</a:t>
            </a:r>
          </a:p>
          <a:p>
            <a:pPr lvl="2"/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export_to_xilinx.py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writes COE and optionally a VHDL package.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Config drives sizes/bitwidths via </a:t>
            </a:r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config.yaml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Outputs:</a:t>
            </a:r>
          </a:p>
          <a:p>
            <a:pPr lvl="2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Fixed-point arrays in </a:t>
            </a:r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artifacts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3"/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weights_layer1.txt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bias_layer1.txt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3"/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weights_layer2.txt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bias_layer2.txt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3"/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activation_lut.txt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/>
          <p:nvPr/>
        </p:nvPicPr>
        <p:blipFill rotWithShape="1">
          <a:blip r:embed="rId3"/>
          <a:srcRect b="14987"/>
          <a:stretch/>
        </p:blipFill>
        <p:spPr bwMode="auto">
          <a:xfrm>
            <a:off x="5510176" y="1460440"/>
            <a:ext cx="3633824" cy="5298948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58374593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0963" y="522374"/>
            <a:ext cx="8031013" cy="6012897"/>
          </a:xfrm>
        </p:spPr>
        <p:txBody>
          <a:bodyPr>
            <a:normAutofit/>
          </a:bodyPr>
          <a:lstStyle/>
          <a:p>
            <a:pPr lvl="0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 validation (Python)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 </a:t>
            </a:r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evaluate_and_plot.py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we test vectors in </a:t>
            </a:r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testvectors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28600" lvl="1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RTL simulation (ModelSim/Questa)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file </a:t>
            </a:r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sim.mpf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compiles the same VHDL sources used by Vivado. It also contains references to stimulus/response images: </a:t>
            </a:r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image_stimuli.ppm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image_response.ppm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Synthesis and implementation (Vivado 24.1.2, ZCU106)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side (how parameters become hardware-initialized constants)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Weights/Biases: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Stored as text files in </a:t>
            </a:r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 artifacts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These are typically converted to either a VHDL package with constant arrays or to additional ROM initializations. </a:t>
            </a:r>
          </a:p>
        </p:txBody>
      </p:sp>
    </p:spTree>
    <p:extLst>
      <p:ext uri="{BB962C8B-B14F-4D97-AF65-F5344CB8AC3E}">
        <p14:creationId xmlns:p14="http://schemas.microsoft.com/office/powerpoint/2010/main" val="400359830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6043" y="958687"/>
            <a:ext cx="5937755" cy="1188720"/>
          </a:xfrm>
        </p:spPr>
        <p:txBody>
          <a:bodyPr/>
          <a:lstStyle/>
          <a:p>
            <a:r>
              <a:rPr lang="en-US" dirty="0"/>
              <a:t>VHDL design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36248" y="2586677"/>
            <a:ext cx="6677344" cy="3101983"/>
          </a:xfrm>
        </p:spPr>
        <p:txBody>
          <a:bodyPr>
            <a:noAutofit/>
          </a:bodyPr>
          <a:lstStyle/>
          <a:p>
            <a:pPr lvl="0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 files: </a:t>
            </a:r>
            <a:r>
              <a:rPr lang="en-US" sz="1600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VHDL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Top: </a:t>
            </a:r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nn_rgb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 FSM: </a:t>
            </a:r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control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 blocks: </a:t>
            </a:r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neuron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multiplier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Activation: </a:t>
            </a:r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sigmoid_IP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sigmoid_lut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Configuration/constants: </a:t>
            </a:r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config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Simulation/test: </a:t>
            </a:r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sim_nn_rgb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en-US" u="sng" dirty="0" smtClean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tb_nn_rgb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889274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VHDL design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path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Pixels (RGB) or features are ingested by </a:t>
            </a:r>
            <a:r>
              <a:rPr lang="en-US" sz="1800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nn_rgb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Layer 1: parallel MACs using </a:t>
            </a:r>
            <a:r>
              <a:rPr lang="en-US" sz="1800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multiplier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accumulate weighted sums inside </a:t>
            </a:r>
            <a:r>
              <a:rPr lang="en-US" sz="1800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neuron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add bias, then apply activation via </a:t>
            </a:r>
            <a:r>
              <a:rPr lang="en-US" sz="1800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sigmoid_IP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which internally uses a ROM </a:t>
            </a:r>
            <a:r>
              <a:rPr lang="en-US" sz="1800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sigmoid_lut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/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Layer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2: repeats MAC + activation to produce output probability(ies).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208898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6045" y="925586"/>
            <a:ext cx="5937755" cy="1188720"/>
          </a:xfrm>
        </p:spPr>
        <p:txBody>
          <a:bodyPr/>
          <a:lstStyle/>
          <a:p>
            <a:r>
              <a:rPr dirty="0"/>
              <a:t>Resource and Timing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1466155"/>
              </p:ext>
            </p:extLst>
          </p:nvPr>
        </p:nvGraphicFramePr>
        <p:xfrm>
          <a:off x="361510" y="2772505"/>
          <a:ext cx="8426824" cy="35525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2659">
                  <a:extLst>
                    <a:ext uri="{9D8B030D-6E8A-4147-A177-3AD203B41FA5}">
                      <a16:colId xmlns:a16="http://schemas.microsoft.com/office/drawing/2014/main" val="2160701451"/>
                    </a:ext>
                  </a:extLst>
                </a:gridCol>
                <a:gridCol w="1129553">
                  <a:extLst>
                    <a:ext uri="{9D8B030D-6E8A-4147-A177-3AD203B41FA5}">
                      <a16:colId xmlns:a16="http://schemas.microsoft.com/office/drawing/2014/main" val="3202040930"/>
                    </a:ext>
                  </a:extLst>
                </a:gridCol>
                <a:gridCol w="968189">
                  <a:extLst>
                    <a:ext uri="{9D8B030D-6E8A-4147-A177-3AD203B41FA5}">
                      <a16:colId xmlns:a16="http://schemas.microsoft.com/office/drawing/2014/main" val="2819133894"/>
                    </a:ext>
                  </a:extLst>
                </a:gridCol>
                <a:gridCol w="1614927">
                  <a:extLst>
                    <a:ext uri="{9D8B030D-6E8A-4147-A177-3AD203B41FA5}">
                      <a16:colId xmlns:a16="http://schemas.microsoft.com/office/drawing/2014/main" val="1512091898"/>
                    </a:ext>
                  </a:extLst>
                </a:gridCol>
                <a:gridCol w="1546691">
                  <a:extLst>
                    <a:ext uri="{9D8B030D-6E8A-4147-A177-3AD203B41FA5}">
                      <a16:colId xmlns:a16="http://schemas.microsoft.com/office/drawing/2014/main" val="1876332834"/>
                    </a:ext>
                  </a:extLst>
                </a:gridCol>
                <a:gridCol w="860973">
                  <a:extLst>
                    <a:ext uri="{9D8B030D-6E8A-4147-A177-3AD203B41FA5}">
                      <a16:colId xmlns:a16="http://schemas.microsoft.com/office/drawing/2014/main" val="3494988610"/>
                    </a:ext>
                  </a:extLst>
                </a:gridCol>
                <a:gridCol w="1203832">
                  <a:extLst>
                    <a:ext uri="{9D8B030D-6E8A-4147-A177-3AD203B41FA5}">
                      <a16:colId xmlns:a16="http://schemas.microsoft.com/office/drawing/2014/main" val="3519566896"/>
                    </a:ext>
                  </a:extLst>
                </a:gridCol>
              </a:tblGrid>
              <a:tr h="1140013"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 (MHz)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Area (LUT)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Throughput (Gbps)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Throughput/area (Gbps/kLUT)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Slice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1427603"/>
                  </a:ext>
                </a:extLst>
              </a:tr>
              <a:tr h="804175"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ZCU106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CY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74.25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CY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4850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CY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1.782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CY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809</a:t>
                      </a:r>
                      <a:endParaRPr lang="en-CY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809</a:t>
                      </a:r>
                      <a:endParaRPr lang="en-CY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6657113"/>
                  </a:ext>
                </a:extLst>
              </a:tr>
              <a:tr h="804175"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Spartan 7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90.00</a:t>
                      </a:r>
                      <a:endParaRPr lang="en-CY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5060</a:t>
                      </a:r>
                      <a:endParaRPr lang="en-CY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2.184</a:t>
                      </a:r>
                      <a:endParaRPr lang="en-CY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0.432</a:t>
                      </a:r>
                      <a:endParaRPr lang="en-CY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784</a:t>
                      </a:r>
                      <a:endParaRPr lang="en-CY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1568</a:t>
                      </a:r>
                      <a:endParaRPr lang="en-CY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0531628"/>
                  </a:ext>
                </a:extLst>
              </a:tr>
              <a:tr h="804175">
                <a:tc>
                  <a:txBody>
                    <a:bodyPr/>
                    <a:lstStyle/>
                    <a:p>
                      <a:pPr algn="l"/>
                      <a:r>
                        <a:rPr lang="en-US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Artix</a:t>
                      </a:r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7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94.00</a:t>
                      </a:r>
                      <a:endParaRPr lang="en-CY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/>
                      <a:endParaRPr lang="en-CY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5085</a:t>
                      </a:r>
                      <a:endParaRPr lang="en-CY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2.256</a:t>
                      </a:r>
                      <a:endParaRPr lang="en-CY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0.444</a:t>
                      </a:r>
                      <a:endParaRPr lang="en-CY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791</a:t>
                      </a:r>
                      <a:endParaRPr lang="en-CY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1582</a:t>
                      </a:r>
                      <a:endParaRPr lang="en-CY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559341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6045" y="704715"/>
            <a:ext cx="5937755" cy="1188720"/>
          </a:xfrm>
        </p:spPr>
        <p:txBody>
          <a:bodyPr/>
          <a:lstStyle/>
          <a:p>
            <a:r>
              <a:rPr dirty="0"/>
              <a:t>Limitations and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9075" y="2196353"/>
            <a:ext cx="7951694" cy="3962400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and inference on a single device without software is limited, despite the flexibility and inheritance of parallelism on FPGAs.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backpropagation modules and data chain can be implemented in terms of area and resource usage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Even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though pattern recognition is effective, more work is required to expand the architecture or add convolution layers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Decision-making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feature selection might benefit from greater research since more variables can address issues in real time during a wildfire.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6044" y="408880"/>
            <a:ext cx="5937755" cy="1188720"/>
          </a:xfrm>
        </p:spPr>
        <p:txBody>
          <a:bodyPr/>
          <a:lstStyle/>
          <a:p>
            <a:r>
              <a:rPr dirty="0" smtClean="0"/>
              <a:t>Conclusion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8245" y="1938799"/>
            <a:ext cx="7913354" cy="4524754"/>
          </a:xfrm>
        </p:spPr>
        <p:txBody>
          <a:bodyPr>
            <a:normAutofit/>
          </a:bodyPr>
          <a:lstStyle/>
          <a:p>
            <a:r>
              <a:rPr lang="en-US" dirty="0"/>
              <a:t>This project's goal was to create a VHDL model of an </a:t>
            </a:r>
            <a:r>
              <a:rPr lang="en-US" dirty="0" smtClean="0"/>
              <a:t>ANN for: </a:t>
            </a:r>
          </a:p>
          <a:p>
            <a:pPr marL="447675">
              <a:buFont typeface="Wingdings" panose="05000000000000000000" pitchFamily="2" charset="2"/>
              <a:buChar char="Ø"/>
            </a:pPr>
            <a:r>
              <a:rPr lang="en-US" dirty="0" smtClean="0"/>
              <a:t>determining </a:t>
            </a:r>
            <a:r>
              <a:rPr lang="en-US" dirty="0"/>
              <a:t>the system's </a:t>
            </a:r>
            <a:r>
              <a:rPr lang="en-US" dirty="0" smtClean="0"/>
              <a:t>functions</a:t>
            </a:r>
          </a:p>
          <a:p>
            <a:pPr marL="219075" indent="0">
              <a:buNone/>
            </a:pPr>
            <a:endParaRPr lang="en-US" dirty="0"/>
          </a:p>
          <a:p>
            <a:r>
              <a:rPr lang="en-US" dirty="0"/>
              <a:t>The modules' timing behavior and functioning were properly confirmed. 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Using </a:t>
            </a:r>
            <a:r>
              <a:rPr lang="en-US" dirty="0"/>
              <a:t>FPGA, we take advantage of the high speeds achievable using </a:t>
            </a:r>
            <a:r>
              <a:rPr lang="en-US" dirty="0" smtClean="0"/>
              <a:t>hardware:</a:t>
            </a:r>
          </a:p>
          <a:p>
            <a:pPr marL="447675">
              <a:buFont typeface="Wingdings" panose="05000000000000000000" pitchFamily="2" charset="2"/>
              <a:buChar char="Ø"/>
            </a:pPr>
            <a:r>
              <a:rPr lang="en-US" dirty="0" smtClean="0"/>
              <a:t>as </a:t>
            </a:r>
            <a:r>
              <a:rPr lang="en-US" dirty="0"/>
              <a:t>a result, it is a beneficial and economic investment for designs requiring artificial Neural Networks</a:t>
            </a:r>
            <a:r>
              <a:rPr lang="en-US" dirty="0" smtClean="0"/>
              <a:t>.</a:t>
            </a:r>
          </a:p>
          <a:p>
            <a:pPr marL="447675">
              <a:buFont typeface="Wingdings" panose="05000000000000000000" pitchFamily="2" charset="2"/>
              <a:buChar char="Ø"/>
            </a:pPr>
            <a:endParaRPr lang="en-US" dirty="0"/>
          </a:p>
          <a:p>
            <a:r>
              <a:rPr lang="en-US" dirty="0"/>
              <a:t>In conclusion, this work demonstrates that low-latency wildfire indication on an FPGA is feasible and efficient. 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6045" y="220622"/>
            <a:ext cx="5937755" cy="1188720"/>
          </a:xfrm>
        </p:spPr>
        <p:txBody>
          <a:bodyPr/>
          <a:lstStyle/>
          <a:p>
            <a:r>
              <a:rPr lang="en-US" dirty="0" smtClean="0"/>
              <a:t>bibliography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550895"/>
            <a:ext cx="8749553" cy="5208494"/>
          </a:xfrm>
        </p:spPr>
        <p:txBody>
          <a:bodyPr>
            <a:normAutofit fontScale="40000" lnSpcReduction="20000"/>
          </a:bodyPr>
          <a:lstStyle/>
          <a:p>
            <a:r>
              <a:rPr lang="en-US" sz="2000" dirty="0"/>
              <a:t> </a:t>
            </a:r>
          </a:p>
          <a:p>
            <a:r>
              <a:rPr lang="en-US" sz="2000" dirty="0" smtClean="0"/>
              <a:t>M</a:t>
            </a:r>
            <a:r>
              <a:rPr lang="en-US" sz="2000" dirty="0"/>
              <a:t>. A. </a:t>
            </a:r>
            <a:r>
              <a:rPr lang="en-US" sz="2000" dirty="0" err="1"/>
              <a:t>Alsharif</a:t>
            </a:r>
            <a:r>
              <a:rPr lang="en-US" sz="2000" dirty="0"/>
              <a:t> et al., “Deep Learning Approaches for Wildland Fires Using Satellite Remote Sensing Data: Detection, Mapping, and Prediction,” Fire, vol. 6, no. 5, p. 192, 2023. Available: https://www.mdpi.com/2571-6255/6/5/192</a:t>
            </a:r>
          </a:p>
          <a:p>
            <a:r>
              <a:rPr lang="en-US" sz="2000" dirty="0" smtClean="0"/>
              <a:t>A</a:t>
            </a:r>
            <a:r>
              <a:rPr lang="en-US" sz="2000" dirty="0"/>
              <a:t>. </a:t>
            </a:r>
            <a:r>
              <a:rPr lang="en-US" sz="2000" dirty="0" err="1"/>
              <a:t>Filizzola</a:t>
            </a:r>
            <a:r>
              <a:rPr lang="en-US" sz="2000" dirty="0"/>
              <a:t> et al., “Wildfire Detection Using Convolutional Neural Networks and PRISMA Hyperspectral Imagery: A Spatial-Spectral Analysis,” Remote Sensing, vol. 15, no. 19, 2023. Available: https://www.mdpi.com/2072-4292/15/19/4855</a:t>
            </a:r>
          </a:p>
          <a:p>
            <a:r>
              <a:rPr lang="en-US" sz="2000" dirty="0" smtClean="0"/>
              <a:t>T</a:t>
            </a:r>
            <a:r>
              <a:rPr lang="en-US" sz="2000" dirty="0"/>
              <a:t>. </a:t>
            </a:r>
            <a:r>
              <a:rPr lang="en-US" sz="2000" dirty="0" err="1"/>
              <a:t>Celik</a:t>
            </a:r>
            <a:r>
              <a:rPr lang="en-US" sz="2000" dirty="0"/>
              <a:t> and H. </a:t>
            </a:r>
            <a:r>
              <a:rPr lang="en-US" sz="2000" dirty="0" err="1"/>
              <a:t>Demirel</a:t>
            </a:r>
            <a:r>
              <a:rPr lang="en-US" sz="2000" dirty="0"/>
              <a:t>, “Computer vision based method for real-time fire and flame detection,” Expert Systems with Applications, vol. 36, no. 2, 2009. Available: https://research.itu.edu.tr/en/publications/computer-vision-based-method-for-real-time-fire-and-flame-detecti/</a:t>
            </a:r>
          </a:p>
          <a:p>
            <a:r>
              <a:rPr lang="en-US" sz="2000" dirty="0" smtClean="0"/>
              <a:t>A</a:t>
            </a:r>
            <a:r>
              <a:rPr lang="en-US" sz="2000" dirty="0"/>
              <a:t>. </a:t>
            </a:r>
            <a:r>
              <a:rPr lang="en-US" sz="2000" dirty="0" err="1"/>
              <a:t>Alsharif</a:t>
            </a:r>
            <a:r>
              <a:rPr lang="en-US" sz="2000" dirty="0"/>
              <a:t> et al., “AI-based Wildfire Prevention, Detection and Suppression System,” </a:t>
            </a:r>
            <a:r>
              <a:rPr lang="en-US" sz="2000" dirty="0" err="1"/>
              <a:t>arXiv</a:t>
            </a:r>
            <a:r>
              <a:rPr lang="en-US" sz="2000" dirty="0"/>
              <a:t> preprint arXiv:2312.06990, 2023. Available: https://arxiv.org/abs/2312.06990</a:t>
            </a:r>
          </a:p>
          <a:p>
            <a:r>
              <a:rPr lang="en-US" sz="2000" dirty="0" smtClean="0"/>
              <a:t>S</a:t>
            </a:r>
            <a:r>
              <a:rPr lang="en-US" sz="2000" dirty="0"/>
              <a:t>. </a:t>
            </a:r>
            <a:r>
              <a:rPr lang="en-US" sz="2000" dirty="0" err="1"/>
              <a:t>Himavathi</a:t>
            </a:r>
            <a:r>
              <a:rPr lang="en-US" sz="2000" dirty="0"/>
              <a:t>, D. </a:t>
            </a:r>
            <a:r>
              <a:rPr lang="en-US" sz="2000" dirty="0" err="1"/>
              <a:t>Anitha</a:t>
            </a:r>
            <a:r>
              <a:rPr lang="en-US" sz="2000" dirty="0"/>
              <a:t>, and A. </a:t>
            </a:r>
            <a:r>
              <a:rPr lang="en-US" sz="2000" dirty="0" err="1"/>
              <a:t>Muthuramalingam</a:t>
            </a:r>
            <a:r>
              <a:rPr lang="en-US" sz="2000" dirty="0"/>
              <a:t>, “FPGA implementation of a multilayer perceptron neural network using VHDL,” in Proc. IEEE, 2007. Available: https://ieeexplore.ieee.org/document/770860</a:t>
            </a:r>
          </a:p>
          <a:p>
            <a:r>
              <a:rPr lang="en-US" sz="2000" dirty="0" smtClean="0"/>
              <a:t>Y</a:t>
            </a:r>
            <a:r>
              <a:rPr lang="en-US" sz="2000" dirty="0"/>
              <a:t>. </a:t>
            </a:r>
            <a:r>
              <a:rPr lang="en-US" sz="2000" dirty="0" err="1"/>
              <a:t>Umuroglu</a:t>
            </a:r>
            <a:r>
              <a:rPr lang="en-US" sz="2000" dirty="0"/>
              <a:t> et al., “Accelerating </a:t>
            </a:r>
            <a:r>
              <a:rPr lang="en-US" sz="2000" dirty="0" err="1"/>
              <a:t>Binarized</a:t>
            </a:r>
            <a:r>
              <a:rPr lang="en-US" sz="2000" dirty="0"/>
              <a:t> Neural Networks: Comparison of FPGA, CPU, GPU, and ASIC,” in Proc. IEEE FCCM, 2017. Available: https://ieeexplore.ieee.org/document/7929192</a:t>
            </a:r>
          </a:p>
          <a:p>
            <a:r>
              <a:rPr lang="en-US" sz="2000" dirty="0" smtClean="0"/>
              <a:t>R</a:t>
            </a:r>
            <a:r>
              <a:rPr lang="en-US" sz="2000" dirty="0"/>
              <a:t>. Zhao et al., “Accelerating </a:t>
            </a:r>
            <a:r>
              <a:rPr lang="en-US" sz="2000" dirty="0" err="1"/>
              <a:t>Binarized</a:t>
            </a:r>
            <a:r>
              <a:rPr lang="en-US" sz="2000" dirty="0"/>
              <a:t> Convolutional Neural Networks with Software-Programmable FPGAs,” in Proc. ACM/SIGDA FPGA, 2017. Available: https://rzhao01.github.io/publication/bnn_fpga2017/</a:t>
            </a:r>
          </a:p>
          <a:p>
            <a:r>
              <a:rPr lang="en-US" sz="2000" dirty="0" smtClean="0"/>
              <a:t>M</a:t>
            </a:r>
            <a:r>
              <a:rPr lang="en-US" sz="2000" dirty="0"/>
              <a:t>. </a:t>
            </a:r>
            <a:r>
              <a:rPr lang="en-US" sz="2000" dirty="0" err="1"/>
              <a:t>Courbariaux</a:t>
            </a:r>
            <a:r>
              <a:rPr lang="en-US" sz="2000" dirty="0"/>
              <a:t> and Y. </a:t>
            </a:r>
            <a:r>
              <a:rPr lang="en-US" sz="2000" dirty="0" err="1"/>
              <a:t>Bengio</a:t>
            </a:r>
            <a:r>
              <a:rPr lang="en-US" sz="2000" dirty="0"/>
              <a:t>, “Binary Networks on FPGAs,” 2016. Available: https://arxiv.org/abs/1602.02830</a:t>
            </a:r>
          </a:p>
          <a:p>
            <a:r>
              <a:rPr lang="en-US" sz="2000" dirty="0" smtClean="0"/>
              <a:t>A</a:t>
            </a:r>
            <a:r>
              <a:rPr lang="en-US" sz="2000" dirty="0"/>
              <a:t>. Kumar et al., “Modeling of adaptive artificial neural networks using VHDL,” IJERT, vol. 3, no. 4, 2014. Available: https://www.ijert.org/modeling-of-adaptive-artificial-neural-networks-using-vhdl-is-more-appropriate-using-bipolar-inputs</a:t>
            </a:r>
          </a:p>
          <a:p>
            <a:r>
              <a:rPr lang="en-US" sz="2000" dirty="0" smtClean="0"/>
              <a:t>M</a:t>
            </a:r>
            <a:r>
              <a:rPr lang="en-US" sz="2000" dirty="0"/>
              <a:t>. A. Rahman et al., “Hardware implementation of backpropagation neural networks,” 2015. Available: https://www.scirp.org/html/21-1730136_47097.htm</a:t>
            </a:r>
          </a:p>
          <a:p>
            <a:r>
              <a:rPr lang="en-US" sz="2000" dirty="0" smtClean="0"/>
              <a:t>M</a:t>
            </a:r>
            <a:r>
              <a:rPr lang="en-US" sz="2000" dirty="0"/>
              <a:t>. H. </a:t>
            </a:r>
            <a:r>
              <a:rPr lang="en-US" sz="2000" dirty="0" err="1"/>
              <a:t>Hamdan</a:t>
            </a:r>
            <a:r>
              <a:rPr lang="en-US" sz="2000" dirty="0"/>
              <a:t>, FPGA Architecture for Deep Learning and Its Application to Planetary Robotics, Iowa State University, 2017. Available: https://lib.dr.iastate.edu/etd/15874/</a:t>
            </a:r>
          </a:p>
          <a:p>
            <a:r>
              <a:rPr lang="en-US" sz="2000" dirty="0" smtClean="0"/>
              <a:t>P</a:t>
            </a:r>
            <a:r>
              <a:rPr lang="en-US" sz="2000" dirty="0"/>
              <a:t>. Roth, Digital Systems Design Using VHDL, McGraw-Hill, 2007. Available: https://www.mheducation.com/highered/product/digital-systems-design-using-vhdl-roth/M9780073529540.html</a:t>
            </a:r>
          </a:p>
          <a:p>
            <a:r>
              <a:rPr lang="en-US" sz="2000" dirty="0" smtClean="0"/>
              <a:t>A</a:t>
            </a:r>
            <a:r>
              <a:rPr lang="en-US" sz="2000" dirty="0"/>
              <a:t>. A. Khan et al., “Implementation of a feed-forward artificial neural network in VHDL on FPGA,” 2018. Available: https://www.researchgate.net/publication/328370577_Implementation_of_a_feed-forward_Artificial_Neural_Network_in_VHDL_on_FPGA</a:t>
            </a:r>
          </a:p>
          <a:p>
            <a:r>
              <a:rPr lang="en-US" sz="2000" dirty="0" smtClean="0"/>
              <a:t>IEEE</a:t>
            </a:r>
            <a:r>
              <a:rPr lang="en-US" sz="2000" dirty="0"/>
              <a:t>, “RT 2020 Conference Proceedings,” 2020. Available: https://ieeexplore.ieee.org/</a:t>
            </a:r>
          </a:p>
          <a:p>
            <a:r>
              <a:rPr lang="en-US" sz="2000" dirty="0" smtClean="0"/>
              <a:t>K</a:t>
            </a:r>
            <a:r>
              <a:rPr lang="en-US" sz="2000" dirty="0"/>
              <a:t>. Kara, D. </a:t>
            </a:r>
            <a:r>
              <a:rPr lang="en-US" sz="2000" dirty="0" err="1"/>
              <a:t>Alistarh</a:t>
            </a:r>
            <a:r>
              <a:rPr lang="en-US" sz="2000" dirty="0"/>
              <a:t>, G. Alonso, O. </a:t>
            </a:r>
            <a:r>
              <a:rPr lang="en-US" sz="2000" dirty="0" err="1"/>
              <a:t>Mutlu</a:t>
            </a:r>
            <a:r>
              <a:rPr lang="en-US" sz="2000" dirty="0"/>
              <a:t>, and C. Zhang, “FPGA-accelerated dense linear machine learning: A precision–convergence trade-off,” in </a:t>
            </a:r>
            <a:r>
              <a:rPr lang="en-US" sz="2000" i="1" dirty="0"/>
              <a:t>Proc. IEEE Int. </a:t>
            </a:r>
            <a:r>
              <a:rPr lang="en-US" sz="2000" i="1" dirty="0" err="1"/>
              <a:t>Symp</a:t>
            </a:r>
            <a:r>
              <a:rPr lang="en-US" sz="2000" i="1" dirty="0"/>
              <a:t>. Field-Programmable Custom Computing Machines (FCCM)</a:t>
            </a:r>
            <a:r>
              <a:rPr lang="en-US" sz="2000" dirty="0"/>
              <a:t>, 2017.</a:t>
            </a:r>
          </a:p>
          <a:p>
            <a:r>
              <a:rPr lang="en-US" sz="2000" dirty="0" smtClean="0"/>
              <a:t>Y</a:t>
            </a:r>
            <a:r>
              <a:rPr lang="en-US" sz="2000" dirty="0"/>
              <a:t>. Su, K. P. Seng, L. M. </a:t>
            </a:r>
            <a:r>
              <a:rPr lang="en-US" sz="2000" dirty="0" err="1"/>
              <a:t>Ang</a:t>
            </a:r>
            <a:r>
              <a:rPr lang="en-US" sz="2000" dirty="0"/>
              <a:t>, and J. Smith, “Binary Neural Networks in FPGAs: Architectures, Tool Flows and Hardware Comparisons,” </a:t>
            </a:r>
            <a:r>
              <a:rPr lang="en-US" sz="2000" i="1" dirty="0"/>
              <a:t>Sensors</a:t>
            </a:r>
            <a:r>
              <a:rPr lang="en-US" sz="2000" dirty="0"/>
              <a:t>, vol. 23, no. 22, Art. 9254, 2023.</a:t>
            </a:r>
          </a:p>
          <a:p>
            <a:r>
              <a:rPr lang="en-US" sz="2000" dirty="0" smtClean="0"/>
              <a:t>N</a:t>
            </a:r>
            <a:r>
              <a:rPr lang="en-US" sz="2000" dirty="0"/>
              <a:t>. M. </a:t>
            </a:r>
            <a:r>
              <a:rPr lang="en-US" sz="2000" dirty="0" err="1"/>
              <a:t>Botros</a:t>
            </a:r>
            <a:r>
              <a:rPr lang="en-US" sz="2000" dirty="0"/>
              <a:t> and M. Abdul-Aziz, “Hardware Implementation of an Artificial Neural Network,” Southern Illinois University, Carbondale, IL, USA.</a:t>
            </a:r>
          </a:p>
          <a:p>
            <a:r>
              <a:rPr lang="en-US" sz="2000" dirty="0" smtClean="0"/>
              <a:t>R</a:t>
            </a:r>
            <a:r>
              <a:rPr lang="en-US" sz="2000" dirty="0"/>
              <a:t>. A. Khalil, “Hardware Implementation of Backpropagation Neural Networks on Field Programmable Gate Array (FPGA),” University of Mosul, College of Engineering, Mosul, Iraq.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740501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295" y="1093694"/>
            <a:ext cx="8471646" cy="4624981"/>
          </a:xfrm>
        </p:spPr>
        <p:txBody>
          <a:bodyPr>
            <a:noAutofit/>
          </a:bodyPr>
          <a:lstStyle/>
          <a:p>
            <a:r>
              <a:rPr lang="en-US" sz="1600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control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sequences valid/ready, input loading and layer enable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600" u="sng" dirty="0" smtClean="0">
              <a:latin typeface="Times New Roman" panose="02020603050405020304" pitchFamily="18" charset="0"/>
              <a:cs typeface="Times New Roman" panose="02020603050405020304" pitchFamily="18" charset="0"/>
              <a:hlinkClick r:id="rId2"/>
            </a:endParaRPr>
          </a:p>
          <a:p>
            <a:pPr lvl="0"/>
            <a:r>
              <a:rPr lang="en-US" sz="1600" u="sng" dirty="0" smtClean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config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 centralizes generics/constants, e.g., number of inputs/neurons/layers, fixed-point width 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LUT size, address widths.</a:t>
            </a:r>
          </a:p>
          <a:p>
            <a:pPr lvl="0"/>
            <a:r>
              <a:rPr lang="en-US" sz="1600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multiplier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 fixed-point signed multiply with optional rounding/saturation and a pipeline register to map onto DSP slices in UltraScale+.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Role: building block for MAC inside a neuron.</a:t>
            </a:r>
          </a:p>
          <a:p>
            <a:pPr lvl="0"/>
            <a:r>
              <a:rPr lang="en-US" sz="1600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neuron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 compute y=σ(∑iwixi+b)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(∑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​+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 in fixed-point.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Internals:</a:t>
            </a:r>
          </a:p>
          <a:p>
            <a:pPr lvl="2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generate loop of </a:t>
            </a:r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multiplier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instances for wi*xi​.</a:t>
            </a:r>
          </a:p>
          <a:p>
            <a:pPr lvl="2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adder tree/accumulator to sum products.</a:t>
            </a:r>
          </a:p>
          <a:p>
            <a:pPr lvl="2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Bias add, optional saturation, and handoff to activation.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Interfaces: vector input, weight/bias inputs (from constants or ROM), valid/ready or start/done signals.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1606044" y="220622"/>
            <a:ext cx="5937755" cy="729637"/>
          </a:xfrm>
        </p:spPr>
        <p:txBody>
          <a:bodyPr/>
          <a:lstStyle/>
          <a:p>
            <a:r>
              <a:rPr lang="en-US" dirty="0" smtClean="0"/>
              <a:t>Technical info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5493415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5104" y="647880"/>
            <a:ext cx="7869649" cy="5654308"/>
          </a:xfrm>
        </p:spPr>
        <p:txBody>
          <a:bodyPr>
            <a:noAutofit/>
          </a:bodyPr>
          <a:lstStyle/>
          <a:p>
            <a:pPr lvl="0"/>
            <a:r>
              <a:rPr lang="en-US" sz="1600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sigmoid_IP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 activation function via lookup. Converts fixed-point input to LUT address, reads from BRAM/ROM.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Internals: address scaling/clamping + instance of </a:t>
            </a:r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sigmoid_lut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.</a:t>
            </a:r>
          </a:p>
          <a:p>
            <a:pPr lvl="0"/>
            <a:r>
              <a:rPr lang="en-US" sz="1600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sigmoid_lut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 the ROM primitive or inferred ROM for the LUT samples.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Note: synthesized into BRAM on Zynq UltraScale+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1600" u="sng" dirty="0" smtClean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control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 FSM for sequencing the NN:</a:t>
            </a:r>
          </a:p>
          <a:p>
            <a:pPr lvl="2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 inputs for layer 1</a:t>
            </a:r>
          </a:p>
          <a:p>
            <a:pPr lvl="2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 MACs, wait for activation latency</a:t>
            </a:r>
          </a:p>
          <a:p>
            <a:pPr lvl="2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Feed layer 2</a:t>
            </a:r>
          </a:p>
          <a:p>
            <a:pPr lvl="2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valid flag and result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Interfaces: clock/reset, input stream (pixels or features), start/valid/ready, and status outputs.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577298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7880" y="701668"/>
            <a:ext cx="7394519" cy="4713014"/>
          </a:xfrm>
        </p:spPr>
        <p:txBody>
          <a:bodyPr/>
          <a:lstStyle/>
          <a:p>
            <a:pPr lvl="0"/>
            <a:r>
              <a:rPr lang="en-US" sz="1600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nn_rgb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 top-level entity; instantiates control + arrays of neurons for each layer + sigmoid IP; wires constants from </a:t>
            </a:r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config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exposes the top I/O.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Role: integration point used as the synthesis top in Vivado TCL scripts.</a:t>
            </a:r>
          </a:p>
          <a:p>
            <a:pPr lvl="1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lvl="1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Testbenches</a:t>
            </a:r>
          </a:p>
          <a:p>
            <a:pPr lvl="1"/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sim_nn_rgb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tb_nn_rgb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read </a:t>
            </a:r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image_stimuli.ppm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and compare to </a:t>
            </a:r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image_response.ppm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or golden vectors in </a:t>
            </a:r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testvectors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811794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6045" y="370332"/>
            <a:ext cx="5937755" cy="1188720"/>
          </a:xfrm>
        </p:spPr>
        <p:txBody>
          <a:bodyPr>
            <a:normAutofit/>
          </a:bodyPr>
          <a:lstStyle/>
          <a:p>
            <a:r>
              <a:rPr lang="en-US" dirty="0"/>
              <a:t>Data path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0962" y="1678821"/>
            <a:ext cx="8192379" cy="4219955"/>
          </a:xfrm>
        </p:spPr>
        <p:txBody>
          <a:bodyPr>
            <a:no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Ingress (per clock):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entity nn_rgb exposes video ports: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Inputs: vs_in, hs_in, de_in, r_in[7:0], g_in[7:0], b_in[7:0]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Outputs: vs_out, hs_out, de_out, r_out[7:0], g_out[7:0], b_out[7:0]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each clk, when de_in = '1', the 8‑bit r_in/g_in/b_in samples are registered and forwarded as feature inputs to the first-layer MACs.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Control/timing alignment: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controller gates “pixel valid” into the compute path and delays vs/hs/de to align with the NN latency, so output timing matches the corresponding processed pixel. </a:t>
            </a:r>
          </a:p>
        </p:txBody>
      </p:sp>
    </p:spTree>
    <p:extLst>
      <p:ext uri="{BB962C8B-B14F-4D97-AF65-F5344CB8AC3E}">
        <p14:creationId xmlns:p14="http://schemas.microsoft.com/office/powerpoint/2010/main" val="311196112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5835" y="322729"/>
            <a:ext cx="8408894" cy="610496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Compute: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Layer MACs multiply each incoming feature by fixed weights using the multiplier, sum inside the neuron, add bias, then apply activation in sigmoid_IP, which reads the LUT ROM sigmoid_lut initialized by coe.</a:t>
            </a:r>
          </a:p>
          <a:p>
            <a:pPr>
              <a:lnSpc>
                <a:spcPct val="15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Fixed‑point scaling follows the project’s Qm.n settings from config (inputs are interpreted in that format; arithmetic is scaled by the NN result is mapped to r_out/g_out/b_out (and de_out/hs_out/vs_out are the delayed timing), ready for downstream video.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0703056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TM10001115[[fn=Parcel]]</Template>
  <TotalTime>5486</TotalTime>
  <Words>2896</Words>
  <Application>Microsoft Office PowerPoint</Application>
  <PresentationFormat>On-screen Show (4:3)</PresentationFormat>
  <Paragraphs>343</Paragraphs>
  <Slides>39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5" baseType="lpstr">
      <vt:lpstr>Arial</vt:lpstr>
      <vt:lpstr>Calibri</vt:lpstr>
      <vt:lpstr>Gill Sans MT</vt:lpstr>
      <vt:lpstr>Times New Roman</vt:lpstr>
      <vt:lpstr>Wingdings</vt:lpstr>
      <vt:lpstr>Parcel</vt:lpstr>
      <vt:lpstr>Neural Network for Wildfire Detection: a hardware design approach</vt:lpstr>
      <vt:lpstr>contents</vt:lpstr>
      <vt:lpstr>contents</vt:lpstr>
      <vt:lpstr>FPGA implementation, neural networks, nonlinear systems</vt:lpstr>
      <vt:lpstr>Problem Definition</vt:lpstr>
      <vt:lpstr>What is neural network?</vt:lpstr>
      <vt:lpstr>PowerPoint Presentation</vt:lpstr>
      <vt:lpstr>Activation functions</vt:lpstr>
      <vt:lpstr>forward propagation</vt:lpstr>
      <vt:lpstr>Backpropagation</vt:lpstr>
      <vt:lpstr>Iteration</vt:lpstr>
      <vt:lpstr>Refinement</vt:lpstr>
      <vt:lpstr>architecture</vt:lpstr>
      <vt:lpstr>Neural Network Topology and Quantization</vt:lpstr>
      <vt:lpstr>Fixed-Point and LUT Activation</vt:lpstr>
      <vt:lpstr>Dataset and Sampling</vt:lpstr>
      <vt:lpstr>Dataset Examples</vt:lpstr>
      <vt:lpstr>Experimental Results</vt:lpstr>
      <vt:lpstr>Simulation</vt:lpstr>
      <vt:lpstr>Simulation</vt:lpstr>
      <vt:lpstr>Simulation Output</vt:lpstr>
      <vt:lpstr>Hardware implementation</vt:lpstr>
      <vt:lpstr>FPGA Top-Level Processing Chain</vt:lpstr>
      <vt:lpstr>Key RTL Modules (nn_rgb.vhd)</vt:lpstr>
      <vt:lpstr>The neuron</vt:lpstr>
      <vt:lpstr>Hardware Platforms</vt:lpstr>
      <vt:lpstr>End-to-end workflow</vt:lpstr>
      <vt:lpstr>PowerPoint Presentation</vt:lpstr>
      <vt:lpstr>VHDL design overview</vt:lpstr>
      <vt:lpstr>VHDL design overview</vt:lpstr>
      <vt:lpstr>Resource and Timing</vt:lpstr>
      <vt:lpstr>Limitations and Future Work</vt:lpstr>
      <vt:lpstr>Conclusion</vt:lpstr>
      <vt:lpstr>bibliography</vt:lpstr>
      <vt:lpstr>Technical info</vt:lpstr>
      <vt:lpstr>PowerPoint Presentation</vt:lpstr>
      <vt:lpstr>PowerPoint Presentation</vt:lpstr>
      <vt:lpstr>Data path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Real-time Wildfire Pixel Classification on FPGA</dc:title>
  <dc:subject/>
  <dc:creator>ASUS MAXIMUS IX HERO</dc:creator>
  <cp:keywords/>
  <dc:description>generated using python-pptx</dc:description>
  <cp:lastModifiedBy>ASUS MAXIMUS IX HERO</cp:lastModifiedBy>
  <cp:revision>93</cp:revision>
  <dcterms:created xsi:type="dcterms:W3CDTF">2013-01-27T09:14:16Z</dcterms:created>
  <dcterms:modified xsi:type="dcterms:W3CDTF">2026-03-24T18:43:54Z</dcterms:modified>
  <cp:category/>
</cp:coreProperties>
</file>